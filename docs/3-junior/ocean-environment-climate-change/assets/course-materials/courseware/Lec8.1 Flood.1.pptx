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313" r:id="rId3"/>
    <p:sldId id="323" r:id="rId4"/>
    <p:sldId id="314" r:id="rId5"/>
    <p:sldId id="338" r:id="rId6"/>
    <p:sldId id="325" r:id="rId7"/>
    <p:sldId id="294" r:id="rId8"/>
    <p:sldId id="258" r:id="rId9"/>
    <p:sldId id="259" r:id="rId10"/>
    <p:sldId id="262" r:id="rId11"/>
    <p:sldId id="297" r:id="rId12"/>
    <p:sldId id="263" r:id="rId13"/>
    <p:sldId id="264" r:id="rId14"/>
    <p:sldId id="265" r:id="rId15"/>
    <p:sldId id="299" r:id="rId16"/>
    <p:sldId id="266" r:id="rId17"/>
    <p:sldId id="300" r:id="rId18"/>
    <p:sldId id="301" r:id="rId19"/>
    <p:sldId id="267" r:id="rId20"/>
    <p:sldId id="272" r:id="rId21"/>
    <p:sldId id="268" r:id="rId22"/>
    <p:sldId id="270" r:id="rId23"/>
    <p:sldId id="302" r:id="rId24"/>
    <p:sldId id="303" r:id="rId25"/>
    <p:sldId id="271" r:id="rId26"/>
    <p:sldId id="307" r:id="rId27"/>
    <p:sldId id="388" r:id="rId28"/>
    <p:sldId id="311" r:id="rId29"/>
    <p:sldId id="312" r:id="rId30"/>
    <p:sldId id="280" r:id="rId31"/>
    <p:sldId id="282" r:id="rId32"/>
    <p:sldId id="283" r:id="rId33"/>
    <p:sldId id="335" r:id="rId34"/>
    <p:sldId id="331" r:id="rId35"/>
    <p:sldId id="333" r:id="rId36"/>
    <p:sldId id="322" r:id="rId37"/>
    <p:sldId id="328" r:id="rId38"/>
    <p:sldId id="329" r:id="rId39"/>
    <p:sldId id="330" r:id="rId40"/>
  </p:sldIdLst>
  <p:sldSz cx="9144000" cy="5143500" type="screen16x9"/>
  <p:notesSz cx="6858000" cy="9144000"/>
  <p:custDataLst>
    <p:tags r:id="rId4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CCFFFF"/>
    <a:srgbClr val="FFFFCC"/>
    <a:srgbClr val="CCFF99"/>
    <a:srgbClr val="FF99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47" d="100"/>
          <a:sy n="147" d="100"/>
        </p:scale>
        <p:origin x="-378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gs" Target="tags/tag2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769E0-D93D-4577-AC85-D8329D8620D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F5B4AF-39EE-4C84-ABDA-D27A23D04F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1" y="3911212"/>
            <a:ext cx="1472173" cy="12322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910817"/>
            <a:ext cx="7772400" cy="1102519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069686"/>
            <a:ext cx="6100534" cy="1305742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07527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982387"/>
            <a:ext cx="7772400" cy="1125140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1768073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6408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6696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732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5" y="4018369"/>
            <a:ext cx="8226225" cy="576021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321453"/>
            <a:ext cx="5111750" cy="36433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7" y="1017973"/>
            <a:ext cx="3008313" cy="29468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160718"/>
            <a:ext cx="7448602" cy="585789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750081"/>
            <a:ext cx="7452360" cy="3911231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1" y="4682725"/>
            <a:ext cx="3180375" cy="460775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4869659"/>
            <a:ext cx="1676384" cy="273844"/>
          </a:xfrm>
        </p:spPr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5984" y="4869657"/>
            <a:ext cx="2643206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3073" y="4010254"/>
            <a:ext cx="871200" cy="6534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133"/>
            <a:ext cx="8229600" cy="353618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05979"/>
            <a:ext cx="1400156" cy="4455333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758006" cy="445533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7776000" cy="85725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hyperlink" Target="http://www.google.co.uk/url?sa=i&amp;rct=j&amp;q=&amp;esrc=s&amp;source=images&amp;cd=&amp;cad=rja&amp;uact=8&amp;docid=PbPqGfmcvrmRjM&amp;tbnid=cGlS9YH1DvKsmM:&amp;ved=0CAUQjRw&amp;url=http://www.panoramio.com/photo/62075455&amp;ei=mV--U5uyIMefugT3uoIg&amp;bvm=bv.70138588,d.dGI&amp;psig=AFQjCNGXauUNxE5DCfFSodMstMsS5cBEhg&amp;ust=1405071362974225" TargetMode="External"/><Relationship Id="rId4" Type="http://schemas.openxmlformats.org/officeDocument/2006/relationships/image" Target="../media/image5.jpeg"/><Relationship Id="rId3" Type="http://schemas.openxmlformats.org/officeDocument/2006/relationships/tags" Target="../tags/tag1.xml"/><Relationship Id="rId2" Type="http://schemas.openxmlformats.org/officeDocument/2006/relationships/hyperlink" Target="http://www.google.co.uk/url?sa=i&amp;rct=j&amp;q=&amp;esrc=s&amp;source=images&amp;cd=&amp;cad=rja&amp;uact=8&amp;docid=Q6j0LXSSC7LJpM&amp;tbnid=B3p5vhjeZhQBDM:&amp;ved=0CAUQjRw&amp;url=http://famstradeintl.com/about_bangladesh.htm&amp;ei=3FC-U_y6OcqMuASFswI&amp;bvm=bv.70138588,d.dGI&amp;psig=AFQjCNFvwfQxE5zh1oVAR23BCSnv9_WukQ&amp;ust=1405067662393843" TargetMode="External"/><Relationship Id="rId1" Type="http://schemas.openxmlformats.org/officeDocument/2006/relationships/hyperlink" Target="http://www.google.co.uk/url?sa=i&amp;rct=j&amp;q=&amp;esrc=s&amp;source=images&amp;cd=&amp;cad=rja&amp;uact=8&amp;docid=buHKTE-hbseEyM&amp;tbnid=ZD5UJaKoW1bI5M:&amp;ved=0CAUQjRw&amp;url=http://feww.wordpress.com/2008/04/14/sea-level-rise-in-bangladesh-threatens-coastal-population/&amp;ei=e1C-U_GpMdSKuASLn4L4Ag&amp;bvm=bv.70138588,d.dGI&amp;psig=AFQjCNFvwfQxE5zh1oVAR23BCSnv9_WukQ&amp;ust=1405067662393843" TargetMode="Externa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png"/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hyperlink" Target="http://www.google.co.uk/url?sa=i&amp;rct=j&amp;q=&amp;esrc=s&amp;source=images&amp;cd=&amp;cad=rja&amp;uact=8&amp;docid=u2wtikDJForBpM&amp;tbnid=DzGrE8s6ke__9M:&amp;ved=0CAUQjRw&amp;url=http://www.fao.org/docrep/010/ag124e/AG124E05.htm&amp;ei=ElC-U_eCAtiKuATKwoLQDA&amp;bvm=bv.70138588,d.dGI&amp;psig=AFQjCNFvwfQxE5zh1oVAR23BCSnv9_WukQ&amp;ust=1405067662393843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hyperlink" Target="http://www.google.co.uk/url?sa=i&amp;rct=j&amp;q=&amp;esrc=s&amp;source=images&amp;cd=&amp;cad=rja&amp;uact=8&amp;docid=gpiRKk4GTfgRTM&amp;tbnid=Mhl-9NIY6Z92aM:&amp;ved=0CAUQjRw&amp;url=http://www.theguardian.com/environment/2009/dec/04/bangladesh-climate-refugees&amp;ei=7Xe-U7bXJ5SE8gWugoGQCQ&amp;bvm=bv.70138588,d.dGc&amp;psig=AFQjCNE91kqj_O7_W6TmZKA3JdCLHKyuIw&amp;ust=1405077692907364" TargetMode="External"/><Relationship Id="rId4" Type="http://schemas.openxmlformats.org/officeDocument/2006/relationships/image" Target="../media/image18.jpeg"/><Relationship Id="rId3" Type="http://schemas.openxmlformats.org/officeDocument/2006/relationships/hyperlink" Target="http://www.google.co.uk/url?sa=i&amp;rct=j&amp;q=&amp;esrc=s&amp;source=images&amp;cd=&amp;cad=rja&amp;uact=8&amp;docid=jl0vy6OLgHaDaM&amp;tbnid=AjyuiX9G6Hw6jM:&amp;ved=0CAUQjRw&amp;url=http://www.vanderbilt.edu/ISEEBangladesh/&amp;ei=pne-U8rbEMb68QXl7YCwDg&amp;bvm=bv.70138588,d.dGc&amp;psig=AFQjCNE91kqj_O7_W6TmZKA3JdCLHKyuIw&amp;ust=1405077692907364" TargetMode="External"/><Relationship Id="rId2" Type="http://schemas.openxmlformats.org/officeDocument/2006/relationships/image" Target="../media/image17.jpeg"/><Relationship Id="rId1" Type="http://schemas.openxmlformats.org/officeDocument/2006/relationships/hyperlink" Target="http://www.google.co.uk/url?sa=i&amp;rct=j&amp;q=&amp;esrc=s&amp;source=images&amp;cd=&amp;cad=rja&amp;uact=8&amp;docid=4FApeCqXrytNlM&amp;tbnid=O_DrGB7RYqOtmM:&amp;ved=0CAUQjRw&amp;url=http://progressbangladesh.com/tag/embankments/&amp;ei=cne-U5j6G4uC8gXa94CwBQ&amp;bvm=bv.70138588,d.dGc&amp;psig=AFQjCNE91kqj_O7_W6TmZKA3JdCLHKyuIw&amp;ust=1405077692907364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jpeg"/><Relationship Id="rId1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GI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GIF"/><Relationship Id="rId1" Type="http://schemas.openxmlformats.org/officeDocument/2006/relationships/image" Target="../media/image27.GIF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jpeg"/><Relationship Id="rId2" Type="http://schemas.openxmlformats.org/officeDocument/2006/relationships/image" Target="../media/image26.GIF"/><Relationship Id="rId1" Type="http://schemas.openxmlformats.org/officeDocument/2006/relationships/image" Target="../media/image27.GIF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1.jpeg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6.GIF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4.jpeg"/><Relationship Id="rId4" Type="http://schemas.openxmlformats.org/officeDocument/2006/relationships/image" Target="../media/image33.png"/><Relationship Id="rId3" Type="http://schemas.openxmlformats.org/officeDocument/2006/relationships/image" Target="../media/image32.jpeg"/><Relationship Id="rId2" Type="http://schemas.openxmlformats.org/officeDocument/2006/relationships/image" Target="../media/image26.GIF"/><Relationship Id="rId1" Type="http://schemas.openxmlformats.org/officeDocument/2006/relationships/image" Target="../media/image27.GIF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6.jpeg"/><Relationship Id="rId3" Type="http://schemas.openxmlformats.org/officeDocument/2006/relationships/hyperlink" Target="http://www.google.co.uk/url?sa=i&amp;rct=j&amp;q=&amp;esrc=s&amp;source=images&amp;cd=&amp;cad=rja&amp;uact=8&amp;docid=E0yCqq68vwSBXM&amp;tbnid=-s-QZ51rbCqa6M:&amp;ved=0CAUQjRw&amp;url=http://www.ifrc.org/fr/nouvelles/nouvelles/asia-pacific/bangladesh/bangladesh-thousands-displaced-by-floods-in-need-of-food-and-shelter/&amp;ei=C7W-U8SBA4ekkQWv9IHIAw&amp;bvm=bv.70138588,d.dGI&amp;psig=AFQjCNGrZTyesEPz6f5-MHG0Qdfi0PYImQ&amp;ust=1405093374854650" TargetMode="External"/><Relationship Id="rId2" Type="http://schemas.openxmlformats.org/officeDocument/2006/relationships/image" Target="../media/image35.jpeg"/><Relationship Id="rId1" Type="http://schemas.openxmlformats.org/officeDocument/2006/relationships/hyperlink" Target="http://www.google.co.uk/url?sa=i&amp;rct=j&amp;q=&amp;esrc=s&amp;source=images&amp;cd=&amp;cad=rja&amp;uact=8&amp;docid=5bexwZORuwN95M&amp;tbnid=NDv2cxIHPs7vgM:&amp;ved=0CAUQjRw&amp;url=http://www.fredhoogervorst.com/photo/15270db/&amp;ei=4bS-U_CoHsjIkQXN7oHwCw&amp;bvm=bv.70138588,d.dGI&amp;psig=AFQjCNGrZTyesEPz6f5-MHG0Qdfi0PYImQ&amp;ust=1405093374854650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35" y="1164590"/>
            <a:ext cx="8983345" cy="1102360"/>
          </a:xfrm>
        </p:spPr>
        <p:txBody>
          <a:bodyPr>
            <a:noAutofit/>
          </a:bodyPr>
          <a:lstStyle/>
          <a:p>
            <a:pPr algn="ctr"/>
            <a:r>
              <a:rPr lang="en-US" altLang="zh-CN" sz="8000" b="1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~ 8.1 </a:t>
            </a:r>
            <a:r>
              <a:rPr lang="en-US" altLang="zh-CN" sz="80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FLOOD ~</a:t>
            </a:r>
            <a:endParaRPr lang="zh-CN" altLang="en-US" sz="8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subTitle" idx="1"/>
          </p:nvPr>
        </p:nvSpPr>
        <p:spPr>
          <a:xfrm>
            <a:off x="1369060" y="2571750"/>
            <a:ext cx="6607175" cy="1744345"/>
          </a:xfrm>
        </p:spPr>
        <p:txBody>
          <a:bodyPr>
            <a:noAutofit/>
          </a:bodyPr>
          <a:lstStyle/>
          <a:p>
            <a:r>
              <a:rPr lang="en-US" altLang="zh-CN" sz="2700" dirty="0" smtClean="0"/>
              <a:t>Pei Sun Loh</a:t>
            </a:r>
            <a:endParaRPr lang="en-US" altLang="zh-CN" sz="2700" dirty="0" smtClean="0"/>
          </a:p>
          <a:p>
            <a:r>
              <a:rPr lang="en-US" altLang="zh-CN" sz="2700" dirty="0" smtClean="0"/>
              <a:t>Ocean College, Zhejiang University</a:t>
            </a:r>
            <a:endParaRPr sz="2700" smtClean="0"/>
          </a:p>
          <a:p>
            <a:r>
              <a:rPr lang="en-US" altLang="zh-CN" sz="2700" dirty="0" smtClean="0"/>
              <a:t>18th June 2026</a:t>
            </a:r>
            <a:endParaRPr lang="en-US" altLang="zh-CN" sz="27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85800" y="478631"/>
            <a:ext cx="7772400" cy="1102519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CONTENTS</a:t>
            </a:r>
            <a:endParaRPr lang="zh-CN" altLang="en-US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541020" y="1581150"/>
            <a:ext cx="8297545" cy="2971800"/>
          </a:xfrm>
        </p:spPr>
        <p:txBody>
          <a:bodyPr>
            <a:normAutofit/>
          </a:bodyPr>
          <a:lstStyle/>
          <a:p>
            <a:pPr marL="514350" indent="-514350" algn="l">
              <a:buAutoNum type="arabicParenR"/>
            </a:pPr>
            <a:r>
              <a:rPr lang="en-US" altLang="zh-CN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Bangladesh</a:t>
            </a:r>
            <a:endParaRPr lang="en-US" altLang="zh-CN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514350" indent="-514350" algn="l">
              <a:buAutoNum type="arabicParenR"/>
            </a:pPr>
            <a:r>
              <a:rPr lang="en-US" altLang="zh-CN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Impacts of climate change and human activities</a:t>
            </a:r>
            <a:endParaRPr lang="en-US" altLang="zh-CN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514350" indent="-514350" algn="l">
              <a:buAutoNum type="arabicParenR"/>
            </a:pPr>
            <a:r>
              <a:rPr lang="en-US" altLang="zh-CN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Impacts of flood on hydrological cycle, carbon cycle</a:t>
            </a:r>
            <a:endParaRPr lang="en-US" altLang="zh-CN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514350" indent="-514350" algn="l">
              <a:buAutoNum type="arabicParenR"/>
            </a:pPr>
            <a:endParaRPr lang="en-US" altLang="zh-CN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28600"/>
            <a:ext cx="5687695" cy="1428750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 b="1" dirty="0" smtClean="0">
                <a:solidFill>
                  <a:srgbClr val="FFC000"/>
                </a:solidFill>
              </a:rPr>
              <a:t>BANGLADESH – </a:t>
            </a:r>
            <a:br>
              <a:rPr lang="en-US" sz="5400" b="1" dirty="0" smtClean="0">
                <a:solidFill>
                  <a:srgbClr val="FFC000"/>
                </a:solidFill>
              </a:rPr>
            </a:br>
            <a:r>
              <a:rPr lang="en-US" sz="5400" b="1" dirty="0" smtClean="0">
                <a:solidFill>
                  <a:srgbClr val="FFC000"/>
                </a:solidFill>
              </a:rPr>
              <a:t>a case study</a:t>
            </a:r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08585" y="1811020"/>
            <a:ext cx="5454015" cy="2975610"/>
          </a:xfrm>
        </p:spPr>
        <p:txBody>
          <a:bodyPr>
            <a:noAutofit/>
          </a:bodyPr>
          <a:lstStyle/>
          <a:p>
            <a:pPr algn="l"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rgbClr val="FFFF00"/>
                </a:solidFill>
              </a:rPr>
              <a:t>  Bangladesh is a flood prone country</a:t>
            </a:r>
            <a:endParaRPr lang="en-US" sz="1800" dirty="0" smtClean="0">
              <a:solidFill>
                <a:srgbClr val="FFFF00"/>
              </a:solidFill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1800" smtClean="0">
                <a:solidFill>
                  <a:srgbClr val="FFFF00"/>
                </a:solidFill>
                <a:sym typeface="+mn-ea"/>
              </a:rPr>
              <a:t> A tropical monsoon zone, prone to attacks of cyclones</a:t>
            </a:r>
            <a:endParaRPr lang="en-US" sz="1800" smtClean="0">
              <a:solidFill>
                <a:srgbClr val="FFFF00"/>
              </a:solidFill>
              <a:sym typeface="+mn-ea"/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1800" smtClean="0">
                <a:solidFill>
                  <a:srgbClr val="FFFF00"/>
                </a:solidFill>
                <a:sym typeface="+mn-ea"/>
              </a:rPr>
              <a:t> </a:t>
            </a:r>
            <a:r>
              <a:rPr lang="en-US" sz="1800" dirty="0" smtClean="0">
                <a:solidFill>
                  <a:srgbClr val="FFFF00"/>
                </a:solidFill>
              </a:rPr>
              <a:t>Flooding due to tropical cyclones is the most devastating natural hazards in Bangladesh</a:t>
            </a:r>
            <a:endParaRPr lang="en-US" sz="1800" dirty="0" smtClean="0">
              <a:solidFill>
                <a:srgbClr val="FFFF00"/>
              </a:solidFill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rgbClr val="FFFF00"/>
                </a:solidFill>
              </a:rPr>
              <a:t> 80% of the country consist of low-lying alluvial plain of the deltas of the Ganges, Brahmaputra and </a:t>
            </a:r>
            <a:r>
              <a:rPr lang="en-US" sz="1800" dirty="0" err="1" smtClean="0">
                <a:solidFill>
                  <a:srgbClr val="FFFF00"/>
                </a:solidFill>
              </a:rPr>
              <a:t>Meghna</a:t>
            </a:r>
            <a:r>
              <a:rPr lang="en-US" sz="1800" dirty="0" smtClean="0">
                <a:solidFill>
                  <a:srgbClr val="FFFF00"/>
                </a:solidFill>
              </a:rPr>
              <a:t> Rivers</a:t>
            </a:r>
            <a:endParaRPr lang="en-US" sz="1800" dirty="0">
              <a:solidFill>
                <a:srgbClr val="FFFF00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386" name="AutoShape 2" descr="data:image/jpeg;base64,/9j/4AAQSkZJRgABAQAAAQABAAD/2wCEAAkGBxQTEhUUExQWFhUUGR0YFxgYGBofGhsaGBoaHCAXGRgaHCggHRolHR4bITEhJSkrLi4uGiAzODMtNygtLisBCgoKDg0OGxAQGywkICYuLCwsLCwsLCwsLCwsLCwsNCwsLCwsLCwsLCw0LCwsLCwsLCwsLCwsLCwsLCwsLCwsLP/AABEIAOkA2QMBEQACEQEDEQH/xAAcAAACAgMBAQAAAAAAAAAAAAAABQMEAQIIBgf/xABGEAACAQIEAwUFBAcHAgYDAAABAhEAAwQSITEFQVEGEyJhcTKBkaGxI0JScxQzNVRissEVFnKSk9HwguEHNFNj0vEkJUP/xAAZAQACAwEAAAAAAAAAAAAAAAAAAgEDBAX/xAA2EQACAQMCAwYHAAICAQUBAAAAAQIDESESMQRBURNhcYGR8CIyobHB0eEU8QUjYhU0QkNyM//aAAwDAQACEQMRAD8AedluA4H+zsJdvYa0zPaQs5QEksslmJ+ZrJKU3JpMtSVsjEcC4dp/+Da1OUfZrqRvzqLz6k2j0JsJ2c4dc9nCWOf/APNeRA/qD76hymt2CUWav2a4cHg4Sx+E/ZruYI1j1q5Qqunq8/JGd1qaqafLzZpwnslgnD3DhLMXGlAba+wAAD79T76qnOSxc0KKZLgeznDbubJhLBCMVJ7tdx08qiUpx3YJRZZ/udgP3Ox/pil7SXUnSg/udgP3Ox/pijtJdQ0oP7nYD9zsf6Yo7SXUNKD+52A/c7H+mKO0l1DSihiuwOEZ86WrSeGMvcoVmZkyP+daZVmlZkOCIm7DYfUulhQYEJYQfDMCQTTxqOTtFfUWSUVdkmC7B8P0Y2LbldNVWBp5ASKmtUmpPFhaKi4rN+ow/udgP3Ox/piqe0l1LdKD+52A/c7H+mKO0l1DSisOzfDu87v9Dsz17sZZAByz1ykH0NTrna9wtEs/3OwH7nY/0xUdpLqGlC3EcI4YjOpwdqbftRaXbLnJGskBZJPlAk6U6dRq9yPhGX9zsB+52P8ATFJ2kupOlFHEcD4YhYHB2vCYb7EQBAOaTuoBEkTTJzfMi0SMcG4ZKlsLYQNKw1tQcwAaP8pzek7Qae89NuYtlqvyLWD7N8Nuzkwtg5d/s46jmOoI9xqtzmt2OlFk57IcP/dMP/kWhTm8ZIaislZuz3DAY/RrBPRbcn5A1eqHENXtbxsvuZ3xPDp2vd9139rmB2bwB1GAtEde7HzET9ad0ZKylUSfT3gVcRfMYNrr7yYPZLBuYGDsAfliPeSAfcPeadaKKvOWp9Pf59BG6lV2gtK6+7ei82Tf3KwCqYwlk6blF5D0rJOvKTvt4GuFJQVsvxyc5/o6/h+dbbFR987FcVReHYVHRs4s2wikCXzACU5R16Csc4NybRepYHgxndmbuHKA7MkPr0OUSCfSPOk032ZN7boj7+6zDusMF0kNcgaaARlkgxrB5CpsluyM8kQ4jF5ke06RiWlAqg+ImYuA/g5np61YpSWz+ERwg8tZHBssLWRCAwTKp5AgQDWe61XZbyEFjC3LT2UDW1uMAsqW1OUwtxJhgYIDgAyK03U0yuziOsFjGZmt3FyXUgkDVSDMMh5jSqJw05Q6dzXGcTCPlyMwUBrjKJyA6AkbkaHbaiNNyVwcrFy1dDKGUgqRII2IpGrDG9ABQBpdthhB2poTcHqQk4KcdMtgtWgu3/P+1E5ynuEIRhsb0o4UAKMQWGJ+zFoubcnO7A7xIAB5BZMDYank6+XIvMsZ8T+Cx/nf/wCFR8JOSjiOHXXbM1uwZnMC93XbY5fCOoA8Wk0ykkrEWJsXj76RK2MxBKjvHE5d9SkADqahRTBtkL2bl4BwmHYZgSc9zxZZGU+EfAztqKm+nGQtc1v4RlQZrWHyqZEvcJkxsckzoB6abU9OMqkrRvcSpONOOqWxWaxiYZyLFm3GZvG48ILMcxK6asxk9dq19pRou0Vql15e13epi7OtXzJ6Yu2Ofn49/oXcJdSWF1rauGCjK8g5gCN1EGZERHhqt8XW5Fv+HRGysq6SJHnrqefPc/Osk5ym7s1QhGCsiWkHCgDS97Leh+lCA5YjyNdQynRXYFQeG4LQGLCR5eHlXOqfMzRHY9BSDBQBiKAKWL4iASlsNcux7KLmgnbMdl95p4028iuSRb4VwdEVGdA16AWdvE2aNYY7a9Kvb6CJFbinBLt2/wB6LwXIpFoBRIJGuYndSanFrBm4txfDsW2W7kQXR7OQgFIOgYkw6MJkcqiKUcIG2yx2ew5tC7bPtJc1APhGZVYBeg1j3VVW3TGhsNqqHF17jNtb4sk+I89MoMEgEzvp8x1p1TbjqF1K9hjSDBQBTx3EktgyQWH3Z1/7Vq4fg6tZqyx1MfEcbSoJ3eVy5lb+3FC5nRxrAgSD5htBV/8A6bOU9MJJ+OH6bmf/ANUhGGqcWvBXXrsa2cVYa73guEGJytosxlLQRJaBG8RVc+C4iCtp9M95dD/kOGm8St447uZYxHFkWN2LHSPrrFTT/wCPrTvfFuv8Iq/8jRhZK7v0/tjFviysTlR2ymCQNJ+NEuAnBLXKKv3kQ/5GE29EZO3O39IcfbsX0Du3hUHYgGDHOMw2HskT5iq/8etCp2aWS5cVRnT7TVgkw18KMlsPdaSSxgeJiSSzQB7gKZ8M1mq1FfXySF/yk8Uk5P0Xm3+CVcKzFTcb2SGCjaRtP/Pf1JV6cE40o74u97ER4epNqVWW2bLa/f78+tq/aDqynZgQfQiKxp2dzYLn4GhbNmfnp4YhjLL7OzHU8+hFP2jI0mzcEtFy+uYnMTpyZm6bSx+AoVRrAaUMqQYKANL3st6H6UIDliP8VdQynQvYa6w4ZhPDtYSDM8hyGtY3CLna47qSUb2H2GvFpkRH/f8A+/fS1acYW0u5NKpKd9SsT1SXGtxwoJOwEn0FCyBH2XsMtoswjvXNwSZbK8EZj1+gitT6FSGOLxtu0AbtxEBMAuwUEwTAk6mAT7jQSSowIBBBB1BGxHUGoA2oAWcU4RnPeWzkvCIbWCB911B8QjSp3wyPAXDiF1dLmGvCBqVAYSN4gzl5yaqdLoxtZBwThy3xiLrQbV8kIGGoyypeSPDPx0q5XSS5idWacP4yAjJdP2to5CObEDcevWrP8Gc9MorD3fTJmlx9OnqjJ5Wy64uZt3MTcWTFuCS0KZgDYSdT8K0ShwVGWPjbtbOPHu+pkjPjq0bytC174zbosu/0I7GFse0yMx3MmeQ1OvORoaepW4r5YySXd5/a3L7iU+H4T55xbfe79Pvfn9i/cxylSChKkbaajLJ0nSNaxR4aakmpJPzw7+BvnxMJQalFtdMZVrvn4i69hbBMRcmdfENwcuUkz1BrfCvxMY3Tja3R7b3SRz6nD8LKVmpXv15rFm3fxLmHv27ajImvOYnTX47x76y1aVWrJupL726fq5qpVKVKKVOP2v1/dvNmLeBtXGeUiIkKxCkydwIEyPnUz4mvRhG0r36pXW3PPUiPC8PWnK8LW6N2eXyx08y6MBakNkWRtpoPQbVkfF1nHTqdvH87mxcHQUlJQV13fjYsgVnNAUEhQAUAFABQBFiHIGgkzGxP0+tWUoxk7SK6spRXw+/fUhN5yjEprB5xy8/+aU86cFKykVwqVHG7icva+fxP+1bMkYOjewH7Nwf5CfyiufU+Zl8dh/SDBQBV4nhu8s3EG7KQPXl86aDtJMhq6NbHHGUJ3thrdvRWckeExE5Rsk6T6aVoum7JleUXOK8N75rDByotOzkqYYhrTp4SPNgfdQmDPN4bsjfBtg3ECKttGCM6hltmwYyhdB9m4jNB7w6CTLakRYi4jwXEr9nbVmIDlXDMMqm3eC2l1iMzJ0MjoAQXQEnFrTYRM92/asW71xbYBe6QrFrZCp4ZJbI5OgAzHzkWQPV8Hwfc2LdsmWVAGaSczQMzSddTJ160rJRvxB8lq4QB4VY+WxqyjHVUiu9FXES00pS6JniuzeFViGygsHJcn7oUEKo9SZ91b+OrVIa9TaTVkuvV++pyeAoUpaNKUmvik+mMLx/R6thIg864SbTujvtJqzI1w6ARlHv1+M1Y60273K1RppWsjcWx0HwpHKT5jqMVsjDWlO4HwqVUktmQ4Re6NopbsaxmgkKAME0AGYdRrtQBhXB2IPoaLAZzDeRrQBmgAoAKANL3st6H6UIDlifM11DKdF9gP2bg/wAhP5a51T5maI7D+kGCgAoAwygiCJB3BoApcLvCxdNliVtvHcyZUEDxIDuNdgfdWiL1Irasx8zgbkCetSBtQBFiMMlwAOiuAQwDAESNQYPMHnUkEtQSLuOP9nlic5A+cyfLStXCL/s1dDHxr/69PVpC3A4ZbV+9bTRALbR/EQZ+IANZeJqSqNSluaaFKNKOmKwMazF4UAFABQAUAFABQAu4jbJu2CASAXkxtKECnjsxXuhTw3C3E/R1Ktkyl+fgYoQyHprqPUirZNO4qTwZ4dY/UZLbKyW2705CsysZSSBmObXntUSe934AuRpfw125asW1Q/Z2s8kxDxC7jUjUx5ipTSbfeFnZI9HhLpdFYgqSASDuDzHxqiSs7DomqCQoA0vey3ofpQgOWM3mfhXUMp907CJfuYHDG3dyotlFWQNSAJkRqBtNNKXC0opVIXby88uX7MOji6tSTp1NMVhYW/P9HpreNK3FtXNWbVXUQD5EToazS4eM6TrUtlunuv2jTHiZU6qoVst7NKyfdbNmMKxG8KACgCPEYdXXK6hh0IkaVKbWUQ1cWYjgNrK0KWgHIjO2VSR90TprTqrIXShrwLiKXLVsd4C4AVgxhswGoIOs1e0KmNKUkKAFXEmLXrKfdnM3qASPjB+flWygkqU589kYeIblWpw5bv62+z+pUwLTcvsd2ulY5wigAf199c+ryN8S9VQ4UAFABQAUAFABQAUAFABQAUAFABQAUAaXvZb0P0oQHLGb+L5V1DKdF/8Ah+P/ANbg/wAhPpXOq/OzRFWQ7u2VaMwmDI6g9QRRCpKHysidOM7altldxUsDJeKAtBTN4iTrmiddq01H2nD62liVsJLFjJTSp8Q6abzG+W3m/fsX6xm4KAF7Yi8blxbdtGFvLILEMc4mRpGkHQ1bGmmr3Ecsm9z9KUa2UeR9y5sfPMBI9Knsl1DUyLCcOuXMSr37SoLQkFSCGedDPtQByPWnSUVhit3PSUEhQB5njOI7zELaX20KkbySCG9AInX19/V4aGig5y2d/wBHF4yp2nEKlH5lb8P7fka4ngeHuMzPbBZtzrPLUa6HQajpXLuzs2KrcMvp+quh15LdBkeQddSPUGlcIsm7RE+KuppdsN5Nam4D7gAw+FI6XRk6uoHGXY/8rd6/c2/zb+VHZd4agHETzsXxO3gmfgdPfUdkydSNlu329jDwOt1wnwADH40ypdWRqMM+JXV7Csp5WnzMPXMFkHy2o7JcmGojucWgfqb5I3HdsIHMknTTyNL2TJ1IE4mzk91ZuXAPvQFU+hcialUnzZGomzYn93X33l+GinX5edT2S6hq7jXD8SUtkdWtuPuuImDHhbZh5jrSSptZJUky7SDBQAUAFAEeIaEYnYKfpUxTbSRDaSuzlfvR1+Rro6kZ9LOjewH7Nwf5CfyisFT5mXx2H9IMQ4myp1JgrqGmCOuvTqNqtpVJxemOb8uvvlzKa1OElqli2b9P515dTTDYgm3nYdTtuoJgx5iDFTXpqFTTHu9ea8mRw9SU6alLv9L4fmslaxxpDq4NtSudGeIZBuRB38t6V0mi1SRe7PWDka64Ie8cxB3CjRF/y6+pNXWsrCd42qCQoAKAKfE8S1tQVy7wc3odhIk1fQpxnKzv5GfiasqcU428xNwe7mxVwlSDLemkCZ6+XnW7iY6eHik+hzuEnq4qTazk9LXKOyKcF2kw13uclyf0i2blskEAqGVdSfZOZgADqTI5VOlkXLVzi1hTBvWgehuLO8bT1oswuZu8UsrOa9bGUw0uogwTBk6GAdPI9KLBcxc4pZBjvUkGD4l8PhLS2uggEyelFmFw/tWxCnvrcNIXxr4iNCF11M6aUWC5EvErd6wblm4GBUQVIJBYCAQNm1Gh61ZSjeaTKq0mqba3/JP+hgQUJRviD5ETr67+dT2reJZRHYJZhh/TzRrYxOUlbrrmnSdJB2gfL3VM6epKUE7etmRCrpbjUavfHK694LTOAJJAHU7VSk27IvckldinjGJssoFzJkJjO4BX/pnc+Y0GtXRhpzL05+fQpdRzxD15eXX7C/CqcO6pmL2bsd04MhTHsbkwYkHWqqtOM05R3W6/I0JyjJRnz2f4Y0ZwIkgSYHr0rKot7Ivckt2bVAwUAVsfquX8Uz6AEke8ae+raOLz6ffZem5TWzaHX7bv12OXv8vwrbpQmpnRfYD9m4P8hP5RWCp8zL47D+kGNbiBgVOoIII8jUxk4yUluhZxU4uMtngVXLzlbdhG+1clC3NVSZuesRHmwrVUgnUcrYeV5mehJ9mot3aw/LH13HlvhVoW0tlFZU9nMA23PXnNRdlti7UEhQAUAFAFbiK+AnXw+KRvp0901bRfxpdcFNdfA30yeexWLNh1uwxLDxADTQhcz6TJUrr1rpwpKtF09rbfeyz4+RyKtZ8PNVcu+/Tpd4vlWz1PTWrgdQw2YAj3iuTKLjJp8jtQkpxUlzPNDsctu24tOxfJkt5iAFOVYIIUkRcBubHxMfKC5Nitxfg4siyiWr17vrnduyZfsw+H7k3WzA6AeL1J9CJgMcJ2Tto4bOxyszKDBjMt0ESZ53GOkbDzJLk2IX7GWypU3Xy5SoACje21ssREFoY6wOUzRqCwcR7Nu1xjaYBbzo13MdQEdGhFyfwnWRqddhBciwwTha2bTZWOlu2smBHciAdBv/XlT0n8aK66/wCtljifFVsBMysTcMKq5ZJALES7KJgbTJ5A1XYtuV+Icew9tA7mZD6ASwyKzOCp1EZSCDsYBqVdENJ7oBxDCCGD2+cCeY/h5H3ak+dO6k2rXEVKmndIrcSxSXhhGt6i4wury+z7skkg9QwEHrVUsJ3LFugt8IsqxYW1mZ11AJ3yg6CfKqlWmtnYmVKEvmSfiTnBpM5R6cvWNp86ZcRUSsn+/UR8PSbu4/r02v3kVm1cBIzDLJIYkk+SwfLzP9KsnOjJarZ6beftL8iQhWi3G+M538Fb+v8ABKuIhSW0Ke1/uPKq3SbklDN9vfUsVVKLc8W3/fgRsc+Zh7KghehJGp8xy+NS12cdPN79y6fn0Ii+0nqWy2731/Hqcwf5a2iHRfYD9m4P8hP5RXOqfMzRHYf0gwUAK+M4cjJeRTntOGOXcrswjnpWrh6jadN7Pbuf4MtamlJVF5967+tvUbYLjVi7lCXAWaYU6NoJ1U6irOxnZys7IO3p6lHUrvYscQvm3auOIlEZhO3hUnXyqtFp5W52ru21bvFXMpRv1bKe7KhnOTO2xMBpA6xuW0kXLV3tUwyqLcszBVJ0Vj3uUqNYzZZPtTziKixNyDH9r3XNktrKJdBBlvtrS3GyZwQMpFsnWDBBiDILEXHHD+K97cu2mTKbajMJnUs40YbiADsN6FdZQOzWRVjLYKAHL4WABjSGBBBUGSNAdh1rr05Wk2r5X2OHWipQSdsO3k77q/h06jzgNwGwscpHwPLyrn8XFqq7nT4GSlRVuWBhWY1hQAUAFABQBUtjvSGMFB7I/Efxny6fHpFz/wCtaefPu7v36GeP/a9X/wAeXf3/AK9TTinDhfUKXZRqCAFIYMIIZXVlPlpp8aqTLxLi+zCBMQ8O8r9nbRvEQllkygsPacsSeU5T1qbkWM8O4MmJFvFXrVyzeuQ72nykqVIIWSsiCoOkHXXyL2wFg4Za8eklLCfoyFozMbZhnMAATAHnFVVXyGghrVJYFABQBSiQf/cePQL/AFhT8a130tf+Mfq/6zHbVF/+Uvov4i1e9lvQ/SsiNhyx7hXUMp0X2A/ZuD/IT+UVzqnzM0R2H9IMFABQBUxHDbbjVQCNVZdGU9QRqKuhxFSMtV7+OfIonw9OUXFK3hjPXxFvGMVj1sPbsqlxysJdKgjX/wBRCd4kbEGtMZUJJu7T6f0qa4iLSsmuuz9OX18i9wXEW8QAl+yvf21XMHtiDpGZAR7MzpympqU1FKUZXTClWc5OMotNe7oZYfhli0o8CeAe2wBb2s2rHX2tfWqlduyLm0ldkgwNljn7u2xP3sqk6zOseZ+Jod1hgmmrosLaUEkKATuQBJ9TzpRijxyyptOTAMAAnyYECDymtXCzkqiS7/sY+NhF0pN74+5Z4eALaZYAyjb5/OqqzfaO5dQSVOOnoWKqLgoAKACgDDHSpW5D2KnCp7sAiANvMHWR0HlV3EW13TKOGuqdmvAuVQaAoA87ieIYl8S1u1lS3b0ZiAxJIDAxI0Mxp0ok1FEJNssYHDd2sTmJJZjESzGSYGwnlVEpancsSsWKUkKACgClw4ZlVuQEL59W9/8Av1rXxXwzlHm3nu7vL3sY+E+KEZcksd/f5+9y1e9lvQ/SsiNhyxHkK6hlOi+wRjhmDJ/9BP5a501ebSNCdo3Y9W4DsQefupXFrdApJ7M2qBgoAKACgBXZdjjGI8RtoAtuQCQ4lmE+1BAHTWt1Bx7JweLu9zFWjNVVUjmytbx98y3jLl+UNwItskbSSjGQC3JhJG0QdeU1qpxo2ahdy+67uhlrSrqUXNJRv46Xyv1XpbfvJLV97Uh1lesiSfxTtJ6bknyJpZQhVtpefePeLehZGpUo31rHXr3+fTdvluxnZvKwlTNZJQcXZmyE4zV4sVdqLid1kbVmIyqNyZ0+dbOAjLtNS2XMw/8AJSh2Wh5btZGt/HHCrbTubjh2CJlZNC2yEsw+PlVNS1R6755/s0UV2SUGscv15Fu7xmwoGa4BmmAJJMFgQAASTKsNOhqizNFzVuO2MwUXFZjlgA75igkE6GM6zBnxDqKLBcZVBIUAJMMrPfZb+4XMqq0oFJiGG5YwDrp0rfNxhRTpdbNve/d/Dm01OddxrdLpJ4ttnvxfOOg1xeIFtGczCAsY3gdKwnRFq9oFjWzeDHYZJnp4gcvzox1DIkw/BLjhO/fYORE51a4QT4pjwkaepFJKquRKh1GvDMKyBs7B3dizMBE6ADT0AquctTGirFykGCgAoAKANWYAa6CpScngVtRWRdjuLojMkEhQM7iMqZ5Azaz/ALTTqk7Jvy7yNad0jmiPIfGt9yg6H7A2F/s3CGIJsJqN9VFYqlWWqzeOhbGlG10s9R9aw6qZG5EH3Us60pqz2CFGMHdb7EtVloUAFAEeJvqis7GFUSaEruyIK/CrTXMQb+RlRUyKXEMSTJIU6gcp51pitKsI3djnFWBcRkOzAg++npzcJKS5FdWmqkHB7PBROGvd33ZKOIgMSVJA/FoQT1+laFUpa9eV6P8ARm7Kt2ehtPlfKfnv75C4CHAbNauEaFmlS2xi5zMaxAOg6QNO8bq0o9yz6f0ybTSleMu948pfXa/oY4xi8lyycwfu9bkESIIJPXadBrtU8NS1wmrWvsLxdbs6kG3fTvt7/I8xeES8qhtVDLcHmVMj1FcxNxfedhpSXcKLPZtbV0XULsFkqjPASe8JCaag942h8tdKs1qa+J2fW33/AHkq0Sg/gV10v9v1gTY7BDDPhjlvXbD3ES2lpZKMxtt3t08lBtyTrOY6DmrTTaZZFqSTRevdq7q3rgOHU4e1iUwrXBdOfPdW0VfuskFJuqD4p5xS2JuUcP8A+Idq4bCgZC63HvaMe7FoHQEqA2vPlV9OjdXfTGbFFWs00l1zi+5VwnbxLGGXEX7TIbmJyXgTmdVay1224Cr4pQIMoAgselLVk5tLklhE0aap3e7bu376FjtP2jIs4YX7Ud/L3Ft3pFuxKqbjOFh/bSVGmrQTlmqbO+C+65nqYrKWhQAUAFABQAUAFAGl23mEU0JuLuhJwUlZiXiOCRLqtAK3syOG1BIUsCOh0PxrQq9RrfYq/wAemuW/U5t7hev1/wB60aURqZ0h2A/ZuD/IT+UVgqfMy+Ow+JpBgJoAMw60AZmgBdx6O7CsYVrltWPKC4mfI7e+rKXzCz2PR1aKFABQBpdtBhDAEdDTRk4u6FlCM1aSuQHh1qMvdrHKANPQ9as/yKt76mVf41HTp0r0FNniXcu1pmzKhO+6LAIP8Qg/L3Vslw/bQVSKs39X+DBDiuwm6UndL1S38177h2zZkJQjUeE8qwJaZWkjpt6oXg/A8J23xvEba2lwQU5WDXEAJZUtQxliwzIwgQAGMkDnV8oKTuufvy8DPTm4rTKyty979b/Qu4LAYK4n6abpvzcW63du3ctiFCoHFkMRnELAMwQOYqunTlUloiW1qsaUHORthOBYZrK2LsgDvLagOYyXQAyEgbkeHXUwa0V6csaFhL3+zLw9ZZ1vLfl75d9ibCcA4ct0mwiK9phc7u0cqZ7S3EzZF8JMXGVo/hB2FY7s3YF+C7K4K/aVnw5K5WtpbveLulLMYthvYEnQjYZQNAKqnOSdkOoqw/wt+2MttXBKiACZYhdCT123qpp7jFqoJFeJ4myXipQm0qqSVBLAsWgwN10j1irI07xutxXKzK2O4jibQDm0MjgkAgygBEB2GmZgduR61YqUXzF1Meis5YFABQAUAK+0hIs5xvbZXE7GDEHpoTVlL5rCy2ObJH/GH+1brlB0R2A/ZuD/ACE/lrBU+Zl8dg4zhyzXvCxDW7Y0B1+0Mge6ng7JESW5WxWHuRfVlZsqW0UwTnUOSDoNTB1HlTJrDXeQ08m2Kw8i8bVtltkWwFyFZcPJYJAO0CY5VCe13nINb2N8cLhxBvi2xWyyoN9V1DwsS05tx+GiNtOm+4O97j+/ZV1KuAyncHaqE2ndDlHBYu7YuWsPlFxHJyPPiVQCSGHONIPStMZKSuVtWPSUEiXj+GvM9p7BINsO0ZoVjCxbfyYZhMGDB5ayiGefwNnHB7XhupNq1bcnI2QDuMxkyM8d9J8W3pLYINv0jG23uHKR31xVXNlPiuG6srtItxacjoH1NGAJblvG3bjoysLZJIYpaP3b/hBK7ZhZ3B9o6nWGjNxzF2EnTjPEkn4iu5xTFWrmVGdmIbvUXuzkIe0BlME5irP7UkkGNgavX/dh7/6+m5nlbh1dbfXn9didsfiHsZ7zanKjW3W2N7SSY9rOb0roSNdudJoqU8pNe+4s7SjVxdPx/o2HBUw7i3hrYICs6W5VUR8wi5AEE76mToK1UqkZU25fDmzaW6tlf6MNalJVUo3m7XSbSSaeHt97sv8AD7eZxm1KwXO32gEnTfc+Ww3AqutLTB22e3hy95LaEdU1q3W//wCrZ+vh5orjgV7uls57Zt2vZBUzcAuKwW4eQKjKYnMTJ08NYrnQseX4XwxMULo8SOl24sXbZBAFs2x3YzSbKuVZf8A2I0WctJKVxm/Zq5Dfagk5pkHUNczxJnl4diPI7UnaLoNpHPCMKbNhLbsCUEFuUSeu2lVyd3dDLCDhN0XcSblvW2trIXgwzFwQFPMAA6+Yq6CcY5EbuxxjcOLlt0IkMpHxFMiBRwe/nsoTvEN/iXQg+cis81aTLIu6LlKSFABQAs7RfqQOTXLan0Linp7iy2Oa8/8AiroWM50R2A/ZuD/IT+UVz6nzM0R2H9IMFABQAUAFACw4oW8S1y4twgIFtZELA5tWmPvSB7hV9O2krluOMFxa1dOVHGYCSpBDAaalTrzFPYi5NisWlsZnYKNJJ5SQJPQSRJ2FAM8pY7XXIgorEKWDF1XMNw4BP6uCBm2nmKbSRclHa4k+xbiAQS50JYKWYRKoASSxEQNCZqLBc2ftVcCM/dJlDBM2fwz4/HmaALZCjKZ1zj3lguekwdzOivlyl1DEaSJEwSN4qCSLiHD1uA/dY/eHlyPUVdRrypvquhRX4eNVdH1/fUVW7VyxcEm34toB1EqGGp6QRvrWxyhXg0r4/tv6YIwqcPUV2s/y/wDC1gpa8xBjKzSDOoMe4DpESOtU1bRpJeHv9l9G8qzfRv097W5DesR0BD2hAW7h7pJAUurEGNChInqJXah5i0RzMcN4it6YDKywSrbgMJU6aEEa1RODiOnc14vqqW5gXnFtm6KZkepjL76akshLYfogAAAgAQB0Aq0U2oA89w/9ZiCvsG6Yn8QAD6dM1V1eRMS/VQ4UAFACrjqibJOv2m3/AENB9xE1ZT5iy5HNX+at5nOi+wH7Nwf5Cfy1z6nzM0R2H9IMFABQAUAFAGtxoBPQE/ChARdnsMO7F94Ny8AzMREAgQi9FGnrWpq2EVd5Le4NYuYpMUQTetIbYhzAViSQUmJ1O/8AQUXxYLDKBMaTHy/2qCQyjoOnu6UAZyjaNKAM0AaXrmVWaCcoJgbmBsPOmjHVJIWctMXLewhOON11YqEVTCk+IEsJkkaRtpvBnQV0exVKLindvfl75nK/yHWmpNWS2e+/tY357DHhWCa3mnKJiAmi6dAdR6Say8RVVS1r+e5s4WhKkmnby29OXqxhWY1i7juCN20VWMykMs7Eg6ieUiR76lEMT9w1g4VrgAJTubhkQCNUk+4j31E1dMI4ZtxW+LgFm0Q91mBEGcmVgc7RsARVdOLvdjSeLHphVhBmgBDhRlvYhOWcP/nUEj5fOq6q2ZMS5VQ4UAU+I4xkyKihmckCTA0BOpg9KaMU9yGyizNfZCUdFtAscwIPeEEBR1AE67ainxFb7i7nN8+ZreUHRfYD9m4P8hP5RXOqfMzRHYf0gwUAFABQAUAYYToedACm3h7j27uDUxkyNbcHVVLghfED4lCmJnYVqi7q5U1yIU7OX1Mo4VlVEVw7AuBduM9y4o0Lsj6zMtJEU10RYj4hhbyZsTiX7u1aWbmW45YW1FgvBQTr3dwwOo5mgCTsqt+41nEC5nsPb0Od/EpVcpKN96QZMA67nkMEOOP427b7oWQCzswPhzGFRm0BuINwNZpUSxbhe2SvkC2i5uKhUq3hYs1pWhmAACm4PPQyAYBnSRc1vdr4tschzZAUJiHZsmgUEzq4EAltDpqCZjByaSIlNRTbKPBceL9osxVFi3cC94QftFFwplMjflvsJrpRk9Vkm+V9Pda5yZQWi7aSve2rvvboev4c8pB3U5dd+onzgisFeNp365Olw8rws+WPfkWqpLzBNSRexSLLfNy2yhrYABkaFjMgemmo5mrZ09EU3u/sU06vaTklsrZ78/bBNgsDbtKFtoFAEaDUx1O5PmaqbuXWLFQSFACLito2ryXVJi84t3FPs+ycrg8joB51EknEFhlus5YFAC3Hrnv2UmAua6evhgAT0ljPpTxxFvyFe6L972W9D9KRDHLGbz+VdQynRfYD9m4P8hP5RXOqfMzRHYf0gwUAFABQAUAFACW7jmw/6Y9tA7ZrMIfvF4T2h8h1HnWmGYoqluS4ftaGe7FsuiDMhUiWtqsu5zEDRtABqfjDaSLli32lV4UWXPeFltg5PHlZ1Y6t4RCEw0SI56UWJuQYHtWjZB3bBXdFWI8KutrLmAOmtyNNPD7qLEXH+Kwlu4ALiK4BkBlBAPUTUEmi8OtBs4tW85jxZFnSI1ieQ+AouAk4v2WF7FWrpa2LFtGW5Z7pftD90l9wF6eXnVlOrKHy8yqrShP5uXkScAwloF0XKRGRYAjKpYQI3gR8q18S5JKSVub8cGHhIwk5RbvyXhd/wtWyyH+JQA675lHNTO/tR8D5ElGpHu5dz9/waLnTferXXVdV9bejN8RdF05QZTKCYO+adGjUQOXn5UlKHZq7Wb+7D1Zqq9Kfw29b9SN7XszLxCgQNB1Pp1q2L3tjmVyjtfPIqjillHZVuIr2/aQkCQBMRygSZ/pSzSatP/Q0G070+WLdfebPqOxi008QEjNqYManY+h+B6VhlFxdmb4yUldEwpRjNAFTiuFW5adGEgqfcQJB9QdalYIYu4XdLWbbHcopPrFZ5q0mWLYtUpIuxfhxFlt84a3HMbPm9PCZ91PHMWhXuXr3st6H6UiGOWM38XyrqGU6L7Afs3B/kJ/LXOqfMzRHYf0gxFir2RC0Tl1PpVlGn2k1C9rlVap2cHO2xKDVZaFABQAUAULNhRiwAoi6hdwdi1tkyvH4gT9KvptuJXLcaPwmwQAbNsgRAyCBExGnKT8TT3INOIcHtXUyEBdZlQv4s2zKQRm12313ouFhVwLs+yG4MSmHe2jj9Fyp4ltqFC5yRq4yrr5e4S30Cw4xuNKsLaCbjREjwgayxPlG3oOdXUqSa1yfwr18PMz1q7jJU4K8n6W6+X6XMu1nNJHiLQdWU7MCDHQ00JOMlJchKkFOLi+Ym7Q3Da7tlUakLPQggr8gw99b+CSqKUW+/wDf4Odx8uycJJc7ee6/Iwx6iFce1IHqCdj9fdWag3dx5GviErKXPH1Fb33a6UUQEIMj73hkofX+lbdMYw1N7/vcwOc5VdEVhZ8cbFzC3SyyRH+3Wq5xSdkXU5OUbtHnMbwe41u9ZDWwrXHbMwOci+fZjbRifEDMLEc6VxbljZ/dIZSUVndP1Tfv0KXaPhlqwty5fu20w8tkDKxW33i3kgKoMktdDba5TVdSDtqRdTmk9L8vf1LeH4Vd8dxQty3mA7tZhwrKQIgHIBK65jK6CDlqmcXG1+auWwmp3tydvQnwnZm+1pA7KjFVzHM2cDuwpw8j7gPjmZn40lx7El/gtxL9sImZO8VlaSFtILzuyjXmpCkaTAAnYCYWLvAxFrJzts6EdMrGPlFZ6vzFkdhhSDC/jds933imHszcXSZgGVPkRT03m3UWRbLyk9Vn4il5knLWbzFdMzHRfYD9m4P8hP5RXOqfMzRHYf0gxrdQMpU7EEH300JOElJcsiTgpxcXzVilbvPbADoSqiMykHQcyDtpWuVKlWlenKzfJ48kzHCrVoxtUjdL/wCSz5tf7LytIBGx1rG007M3Jpq6AmoSvhA3bLNMPeDqGEwdROhjrFPUpunJxfISlUVSCmtn1KXFD3bW8QNrJOcdUeAfhoY8qak82Jn1PRIwIBGoOoNWEFTH4ko1qNmeD5jKxgepA+XWr6NNSUr8l+UZq9VwlC3N59Ga8HYtbDkybhL77AnRfKBAjyqeJSVTSuWPfiHCNyp65bu79dl5LBrh/wDzFzNvlGX/AAjcfE1M/wD+MbdXfxFp/wDuJ36K3h/sttfUBmzCFnMekbz51SoSbStvsaHUik5XwtyHGYkqLZGzuqnTWGB5b9PTXpT06alqT5JldWq46WubS9ffluUeKXFulU318M832kdQupMVp4eMqSc37X9MvEyjWah3/X+ZZc4gQAg/in3KCZ+nxqjh1dt+8mjiHZJd/wBhXwa7rmcBRmdvKPCJPvrXxUfh0xzt+TDwcs6pYzJ/YuYceEaRzjoCZilluXQ+UkI+VQNYp8YwouWmUgHnB2MA+R+lPTaUlcqrxbg7bjbBIoRQmXLGmX2fd5VgquTm9V79+5voqKgtNrd2xPVZaFAHmVx1u3dxWZhlV1YkawXUCNOeYbUlSLbViYu1xjZuqwDKQwOxBkVS1bcYUcSxd5zctWUUgEIzZtQHGvhMbDz3q2MYqzYrbeEM1tZLeWZypEnyETVd7u4xy5PmK6ZmOhOwzP8A2ZhIA/UW4jfYcorI1Tc8sZuoo4S9+R6HDsxBzddNIqqqoprSPScmnqJarLShi8T4svImPVtPCTyGupHnXR4bh0o9rLln+/TBzeJ4hufZLZ488Y8M5LllMqgdKw1J65uXU304aIKPQr8RuDu7g8oMbjNp/Wav4SEu2g++/oZ+MnHsZrus7d+CHhY8TnRgY8Q6gDwqZ1XpoPfNW8ZZQgtnnHdfd9/X8FPBZnOSysZ77bLu6fm5Fxm8r2WIg926kqdmyMCUI6Go4WnKFVJr5k/qhuKqRnSbi/lkvWLTsenUVWakK+NMGsh1AbIwYGYKw0EjbUVr4VONXRLF164MPGOMqOuObNNPpndFnhNvLZTqRmPq3iPzNVcRK9R+npgv4WOmlHvz65KF+5cRnYeN1BVdOqgrIHnoT9K0wjCcEtlu/WzMlSVSE5SWWrpel1+g4bghcUB5NtPCqkRnP3rjjnLSBy3Os1Faq6b+H5nu+nRLyDh6CqRtPMVhLr1k/O9uXPmacWxJN9La/dnxbQSN5g8p5dabh6aVKU5c/sLxVWTrxpx5c+jt+hVZBU94Wg8j+FNvDJicpBgwZM7aHZK0loS/r7+6/wBDBC8X2jefstscr2ez5523fWpaHYySOmgB1gA/MnesVlH4YnTTc/il/oBh1kGPZ0A5ddutTrZHZxuiWlHCgDFAEvC4CZREIxWByEyB8CKz8TfXd87F3C2VPSuTaLc1QaRV2p4q2Gwt29btPduKv2dtFZiznQCFE5Z1J6A1KVyGeY4befFsGNo2hc7u/cS4rK6svhZApAPtKTJ5EHnUTajnyCORlj8PctOHwy/rWyusHICdrhA2jn1quLUlaQzTWxPwrCvbswyr3pJLFeZJOsncxReMpq+xElJQdtyabmVpjb72nLcQKefZXVvp/WVQ7bn9cfZHL+v8Fashg6N7Afs3B/kJ/KKwVPmZfHYf0gxC90k5UgnmeS+vU+VaqPD6vinhff31M1Wvb4YZf299Clj8KORYZADM7sWkE9dcxjzFdDtFFqNlnHlbl9Ec6dK6ck38Kv4u91frzdti3hsVmJUiCADvuGEzXMrUNC1J3V2vRnSo8R2j0tWdk/VC3EqxZmVZXNmYTvlBA1/DImNfrXRp6FCMZO0rWXm/vZ2ObV1ucpRjeOq7Xgrel1cYYaEQknQEyf8ADp/SsfFKVStpXdbzybuGcadFyk+t/LH4FParCqVS4IBDiW8iDBb3wJ5TWj/jq0oz0N46ff35mb/kqEZQ1xWev29+Q+XiTNbYhYYQBJESTlnTo3Lnp1qXw6jNJvHt/YdcVKVNtKz9r6MoKJsKhOsO1wA6TJ1nnzIHM61p/wDuckuiRk3oKDfVyt4/78dyxaJRyLJBGUJ4laF7vSJ0BG+3OqnHXH/s3u3i2bl0W4TfZPFksp404995YVTJZjLHfpAmAPjUYSstizLep7kWGRrZJHj8IVZMZQJ5Aa76n5VNRRmrbZu+8SlqptvfCS5Wt5er+hDfw0ZmLKWaIzDwz8ZjlE1ZCW0UnZdNyqdPeTau+u1/fK5WF9fw53Y5tRoDowy6SRMHrVul9bL2slWuPS73zsueMbDHCjwyRBbVh59fKqJ72NVP5b2s3uTUg4UAV8fh+8tvbzFc6lZG4BEGPOKGSKBwK4vs3yFAgDxCRmk54aSxG7TJPSo0hcocB4bcbvLa4i4C83A2oHiyA6KwnrqPvnXTRuLouCUm78u/mVcDxMZtxStzxty7/wCedxu3Zy/nDfpTAjLr45IVywB8cbHKQIBgE1hudGxZ4fwu9bxEm47WlBjNcYkkiMsE6jcknWYjoC5Nja9rjHn7tlI/6mefoKqq/Kho7lqqRwoA0vey3ofpQgOWI8hXUMp0P2CDnhuD2Udwmu5PhHLQD51WuHg3qlkSVae0cfUf/o4O5Y++B8BpV0YQjtFFLcpbyfvwJVUAQBA8qdu4JJYRUxuHkMdTzKiNYHKefv5U0Lak+fUqqxehrdb2xkqtgnd85CyoULOkkEn1AII0ogowg6abs7/VL7CzjKpUVRpXSX0b+jusGTZLOUg7gsw8iW085IA32mhR06ZdE7edkDvJyg+bV/K7/NvqGOsudBIQMSehBjcjXQljt06VEIxU3O13ZeN1+8e2FXW4qCdld+Fn+m37RDxXGIlkC9cRUvfZqHBzMzaBEC+0x5QOXwq7GnGevK9+8F3aVZw0q1u/f6ety5gcGwtoLhOZQAdfwkka/XrFXXUcLPeJpcrOWNrpepctWlUQoAG0Dy0qHJt3Y8YRirJGtx1tqSYAAJj01MChJyZEpRpxu8Ihu44BsuVj5j/p/wDkKdU7q9/ef0VyrKMrWfu37Iu9a6gYKYkyAdxGhmRoDv6U1lCVriapVIJpe/oFrAEnNcaZEED/AAkHU+p+VDqpK0UEaDbvN+7W/Jaw+GCTHMz6eQ8gKrlNy3LoU1C9iakHCgAoAKACgCgyD7IIcrm6VlSASmsz5ZVAnyFPd/E5K6038/b+5S0vgUXZ6rY6Z38kvRD+uadUKAPN8btsb7BJDNZWIMezd11kciedRK1k2CIEw98Llk6xBz7QXMHWZIKjnt5Ul4k2ZG2BxAgBzzB8Z2ZUE6k6jxH19anVALMsYe1eDMXMqUyxmmCqjWPM5vlStxtglXOao8hXQM50b2B/ZuD/ACLf8op1sUS3JeINjBcY2lVrekAlQdABz6lid9O7/iqHe5K02Mu+MKXPDbDgju8pHiAIJnNIEgEa7Zh0qckKxFbuY4AyiMczEarsSSo0YaAeE6SIB8WtR8QYJ1fFlXlUDApkIjUTLGCdo0gwfrRkMEC3sdMd2gkbkqQpgaABgTqD8RUfET8JawoxTTnKJqI8M6Aa5YbmdJY8hprTZIwYxGFCFHIN1wZLOJYdMgAyprHsgaVZTgpXuU1ako2svH342JLOJuwJSTAmAdzG06c/dFWShC+GUwqVbK68ffuwLhrpklyCZG4iCX6DzX4UOcFsveP6Cp1Xe795/aJmwQIXMSYEHzjn1Hupe0tsWOimlqZY7oTMCetV3drFulXvY3qCQoAKACgAoAKAEeM4gRfZWvd3lNvu7YQMboc6nUZjrK+EjLGY6UreR7YKSdqmIWEQlioOVyQmcEnP4ZHdwA23trtUag0ohLXb19U73uWwt1bl02oPeqvhYP8AhnfKdYnQ70z1TWm4iUKb1299T13HMabdvwfrLhCW9J8RBM+gAJ16ViRuYqtYa7ZfvUJvM0i6GYLm2ykD2RERGm9Iqie5LjbYjuY5mu2ndQjo5suoadLiB1IMCdQPiaaSvHBCwxxWYtCgDS97Leh+lCA5Yy/w/OuoZTo3sD+zcH+Rb/lFOtiiW4/qRQoAKACgCnh+IK3VdA2sbNoNidfI1bKk4lEOIjLu5+vgWFvqYhhrEa9dvjB+FI4tci1Ti9ma3MSikgsAQJI8gJ+mtSoSeUiHUhF2bNHxgCo0E5/ZGk6gnUkxsOtSqbu10FdZKKlbfbbxNrWLRgusZhIB3j/gPwqHTkr9xMasJJZ3MDG24nOsTEz5T9Nans53tYO2p2vdGXxiAHxDRc3uAn6R8ahU5Pl3A6sFfPK5MKUsM1ABQAUAFABQB5DE8bvW793xyitcGTwkhVtBlYqLcqub75YgyBGshNTTLNKsbWe1FwW0zFC2W6Xze0e7Z1Urk8MtAOUA6EmYGpqI0lvgfErt9QjQfDdDOYlirZFICeEAg5tzpETM00JZQlSN4tdRpxu/KWbkHJbug3eq+EjXyBImORmstSDi2jVSqKST9e4uViNJAcFb7zvcozxGbnH/ADnU6naxFle5PUEhQBpe9lvQ/ShAcsZfL511DKdG9gf2bg/yLf8AKKdbFEtx/UimGYDUmB51O4NpbgrA7EH0otYE09jW6mZSJiQRI86E7O5EldNFNeGgfeM6TAUAhQYEAec+oFXds+n3KFwyXPpyXK/7NsLgcrTyVQq+4HxHTfUj09aidXUrdXcKdDTK/RJLy5+OTa5gQS0sYaTGmhZcpPU6fWoVS1se9xnRTvnf8qxtisLnKmYyzyB39RvUQnpuNUpa2s7eH5Ihwtep2AG0iFygyR0+dN28vfjcr/xo9fdrGuKwBPsGJBBPQFVWAI6CphVS+b3zIqUG/ldvxhLGO42bhqySWOsiNNmI0+UelR2ztZIl8PG92/bt+rF6apNAUAFABQAUAFABNABNAGr3QNyB6mpSb2Ickt2Q4hRB5rcUo3QhhAPuJ+BNFr78s/tEN2yueP0/I1wDzbXyABHQjQj41zeJhoqyXffyZt4WeujF91n4rDLFUGgKACgDS97Leh+lCA5YjyNdQynRXYG8v9m4PxD9Rb5j8Ip1sUS3H3fL+JfiKkgjxBRlILD3EctaaMrO4k4alZkWByKshh4oYyw5601SV3boJRgoxuueSz3y/iX4iqy4O+X8S/EUAHfL+JfiKADvl/EvxFAB3y/iX4igA75fxL8RQAd8v4l+IoAr49lKHxjwydx0PPl609OVpFVaN4+BJhyqiM6n3gfKaiUru40IaVYk75fxL8RSjh3y/iX4igA75fxL8RQAd8v4l+IoAO+X8S/EUAHfL+JfiKADvl/EvxFAFbGBDDZxIIGjAbmJ+ZqyErYKatNPPh9/6T50iMyxERI2pL5uW6VaxTsXFtswZ1hjKmfd4j1OnrVPFw7RKUVlbk8K+ybjN4bx/X1+5afFIIll1MDUb1zlBu9uR0JSStfmbd8v4l+IpbDB3y/iX4iiwGt68uVvEux5jpUpEHLcf4q6RmKWI9pvU/WqmOR1AGaABt6CWYoICgAoAKACgAoAKAMPsfSpRKNqggxQAUAFABQAUAFABQBhv9vrUkozUEAdj6GglGW2+H1FWsRBTChQAGoJIKUk/9k=">
            <a:hlinkClick r:id="rId1"/>
          </p:cNvPr>
          <p:cNvSpPr>
            <a:spLocks noChangeAspect="1" noChangeArrowheads="1"/>
          </p:cNvSpPr>
          <p:nvPr/>
        </p:nvSpPr>
        <p:spPr bwMode="auto">
          <a:xfrm>
            <a:off x="53975" y="-1210866"/>
            <a:ext cx="3143250" cy="252888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388" name="AutoShape 4" descr="data:image/jpeg;base64,/9j/4AAQSkZJRgABAQAAAQABAAD/2wCEAAkGBxQTEhUUExQWFhUUGR0YFxgYGBofGhsaGBoaHCAXGRgaHCggHRolHR4bITEhJSkrLi4uGiAzODMtNygtLisBCgoKDg0OGxAQGywkICYuLCwsLCwsLCwsLCwsLCwsNCwsLCwsLCwsLCw0LCwsLCwsLCwsLCwsLCwsLCwsLCwsLP/AABEIAOkA2QMBEQACEQEDEQH/xAAcAAACAgMBAQAAAAAAAAAAAAAABQMEAQIIBgf/xABGEAACAQIEAwUFBAcHAgYDAAABAhEAAwQSITEFQVEGEyJhcTKBkaGxI0JScxQzNVRissEVFnKSk9HwguEHNFNj0vEkJUP/xAAZAQACAwEAAAAAAAAAAAAAAAAAAgEDBAX/xAA2EQACAQMCAwYHAAICAQUBAAAAAQIDESESMQRBURNhcYGR8CIyobHB0eEU8QUjYhU0QkNyM//aAAwDAQACEQMRAD8AedluA4H+zsJdvYa0zPaQs5QEksslmJ+ZrJKU3JpMtSVsjEcC4dp/+Da1OUfZrqRvzqLz6k2j0JsJ2c4dc9nCWOf/APNeRA/qD76hymt2CUWav2a4cHg4Sx+E/ZruYI1j1q5Qqunq8/JGd1qaqafLzZpwnslgnD3DhLMXGlAba+wAAD79T76qnOSxc0KKZLgeznDbubJhLBCMVJ7tdx08qiUpx3YJRZZ/udgP3Ox/pil7SXUnSg/udgP3Ox/pijtJdQ0oP7nYD9zsf6Yo7SXUNKD+52A/c7H+mKO0l1DSihiuwOEZ86WrSeGMvcoVmZkyP+daZVmlZkOCIm7DYfUulhQYEJYQfDMCQTTxqOTtFfUWSUVdkmC7B8P0Y2LbldNVWBp5ASKmtUmpPFhaKi4rN+ow/udgP3Ox/piqe0l1LdKD+52A/c7H+mKO0l1DSisOzfDu87v9Dsz17sZZAByz1ykH0NTrna9wtEs/3OwH7nY/0xUdpLqGlC3EcI4YjOpwdqbftRaXbLnJGskBZJPlAk6U6dRq9yPhGX9zsB+52P8ATFJ2kupOlFHEcD4YhYHB2vCYb7EQBAOaTuoBEkTTJzfMi0SMcG4ZKlsLYQNKw1tQcwAaP8pzek7Qae89NuYtlqvyLWD7N8Nuzkwtg5d/s46jmOoI9xqtzmt2OlFk57IcP/dMP/kWhTm8ZIaislZuz3DAY/RrBPRbcn5A1eqHENXtbxsvuZ3xPDp2vd9139rmB2bwB1GAtEde7HzET9ad0ZKylUSfT3gVcRfMYNrr7yYPZLBuYGDsAfliPeSAfcPeadaKKvOWp9Pf59BG6lV2gtK6+7ei82Tf3KwCqYwlk6blF5D0rJOvKTvt4GuFJQVsvxyc5/o6/h+dbbFR987FcVReHYVHRs4s2wikCXzACU5R16Csc4NybRepYHgxndmbuHKA7MkPr0OUSCfSPOk032ZN7boj7+6zDusMF0kNcgaaARlkgxrB5CpsluyM8kQ4jF5ke06RiWlAqg+ImYuA/g5np61YpSWz+ERwg8tZHBssLWRCAwTKp5AgQDWe61XZbyEFjC3LT2UDW1uMAsqW1OUwtxJhgYIDgAyK03U0yuziOsFjGZmt3FyXUgkDVSDMMh5jSqJw05Q6dzXGcTCPlyMwUBrjKJyA6AkbkaHbaiNNyVwcrFy1dDKGUgqRII2IpGrDG9ABQBpdthhB2poTcHqQk4KcdMtgtWgu3/P+1E5ynuEIRhsb0o4UAKMQWGJ+zFoubcnO7A7xIAB5BZMDYank6+XIvMsZ8T+Cx/nf/wCFR8JOSjiOHXXbM1uwZnMC93XbY5fCOoA8Wk0ykkrEWJsXj76RK2MxBKjvHE5d9SkADqahRTBtkL2bl4BwmHYZgSc9zxZZGU+EfAztqKm+nGQtc1v4RlQZrWHyqZEvcJkxsckzoB6abU9OMqkrRvcSpONOOqWxWaxiYZyLFm3GZvG48ILMcxK6asxk9dq19pRou0Vql15e13epi7OtXzJ6Yu2Ofn49/oXcJdSWF1rauGCjK8g5gCN1EGZERHhqt8XW5Fv+HRGysq6SJHnrqefPc/Osk5ym7s1QhGCsiWkHCgDS97Leh+lCA5YjyNdQynRXYFQeG4LQGLCR5eHlXOqfMzRHY9BSDBQBiKAKWL4iASlsNcux7KLmgnbMdl95p4028iuSRb4VwdEVGdA16AWdvE2aNYY7a9Kvb6CJFbinBLt2/wB6LwXIpFoBRIJGuYndSanFrBm4txfDsW2W7kQXR7OQgFIOgYkw6MJkcqiKUcIG2yx2ew5tC7bPtJc1APhGZVYBeg1j3VVW3TGhsNqqHF17jNtb4sk+I89MoMEgEzvp8x1p1TbjqF1K9hjSDBQBTx3EktgyQWH3Z1/7Vq4fg6tZqyx1MfEcbSoJ3eVy5lb+3FC5nRxrAgSD5htBV/8A6bOU9MJJ+OH6bmf/ANUhGGqcWvBXXrsa2cVYa73guEGJytosxlLQRJaBG8RVc+C4iCtp9M95dD/kOGm8St447uZYxHFkWN2LHSPrrFTT/wCPrTvfFuv8Iq/8jRhZK7v0/tjFviysTlR2ymCQNJ+NEuAnBLXKKv3kQ/5GE29EZO3O39IcfbsX0Du3hUHYgGDHOMw2HskT5iq/8etCp2aWS5cVRnT7TVgkw18KMlsPdaSSxgeJiSSzQB7gKZ8M1mq1FfXySF/yk8Uk5P0Xm3+CVcKzFTcb2SGCjaRtP/Pf1JV6cE40o74u97ER4epNqVWW2bLa/f78+tq/aDqynZgQfQiKxp2dzYLn4GhbNmfnp4YhjLL7OzHU8+hFP2jI0mzcEtFy+uYnMTpyZm6bSx+AoVRrAaUMqQYKANL3st6H6UIDliP8VdQynQvYa6w4ZhPDtYSDM8hyGtY3CLna47qSUb2H2GvFpkRH/f8A+/fS1acYW0u5NKpKd9SsT1SXGtxwoJOwEn0FCyBH2XsMtoswjvXNwSZbK8EZj1+gitT6FSGOLxtu0AbtxEBMAuwUEwTAk6mAT7jQSSowIBBBB1BGxHUGoA2oAWcU4RnPeWzkvCIbWCB911B8QjSp3wyPAXDiF1dLmGvCBqVAYSN4gzl5yaqdLoxtZBwThy3xiLrQbV8kIGGoyypeSPDPx0q5XSS5idWacP4yAjJdP2to5CObEDcevWrP8Gc9MorD3fTJmlx9OnqjJ5Wy64uZt3MTcWTFuCS0KZgDYSdT8K0ShwVGWPjbtbOPHu+pkjPjq0bytC174zbosu/0I7GFse0yMx3MmeQ1OvORoaepW4r5YySXd5/a3L7iU+H4T55xbfe79Pvfn9i/cxylSChKkbaajLJ0nSNaxR4aakmpJPzw7+BvnxMJQalFtdMZVrvn4i69hbBMRcmdfENwcuUkz1BrfCvxMY3Tja3R7b3SRz6nD8LKVmpXv15rFm3fxLmHv27ajImvOYnTX47x76y1aVWrJupL726fq5qpVKVKKVOP2v1/dvNmLeBtXGeUiIkKxCkydwIEyPnUz4mvRhG0r36pXW3PPUiPC8PWnK8LW6N2eXyx08y6MBakNkWRtpoPQbVkfF1nHTqdvH87mxcHQUlJQV13fjYsgVnNAUEhQAUAFABQBFiHIGgkzGxP0+tWUoxk7SK6spRXw+/fUhN5yjEprB5xy8/+aU86cFKykVwqVHG7icva+fxP+1bMkYOjewH7Nwf5CfyiufU+Zl8dh/SDBQBV4nhu8s3EG7KQPXl86aDtJMhq6NbHHGUJ3thrdvRWckeExE5Rsk6T6aVoum7JleUXOK8N75rDByotOzkqYYhrTp4SPNgfdQmDPN4bsjfBtg3ECKttGCM6hltmwYyhdB9m4jNB7w6CTLakRYi4jwXEr9nbVmIDlXDMMqm3eC2l1iMzJ0MjoAQXQEnFrTYRM92/asW71xbYBe6QrFrZCp4ZJbI5OgAzHzkWQPV8Hwfc2LdsmWVAGaSczQMzSddTJ160rJRvxB8lq4QB4VY+WxqyjHVUiu9FXES00pS6JniuzeFViGygsHJcn7oUEKo9SZ91b+OrVIa9TaTVkuvV++pyeAoUpaNKUmvik+mMLx/R6thIg864SbTujvtJqzI1w6ARlHv1+M1Y60273K1RppWsjcWx0HwpHKT5jqMVsjDWlO4HwqVUktmQ4Re6NopbsaxmgkKAME0AGYdRrtQBhXB2IPoaLAZzDeRrQBmgAoAKANL3st6H6UIDlifM11DKdF9gP2bg/wAhP5a51T5maI7D+kGCgAoAwygiCJB3BoApcLvCxdNliVtvHcyZUEDxIDuNdgfdWiL1Irasx8zgbkCetSBtQBFiMMlwAOiuAQwDAESNQYPMHnUkEtQSLuOP9nlic5A+cyfLStXCL/s1dDHxr/69PVpC3A4ZbV+9bTRALbR/EQZ+IANZeJqSqNSluaaFKNKOmKwMazF4UAFABQAUAFABQAu4jbJu2CASAXkxtKECnjsxXuhTw3C3E/R1Ktkyl+fgYoQyHprqPUirZNO4qTwZ4dY/UZLbKyW2705CsysZSSBmObXntUSe934AuRpfw125asW1Q/Z2s8kxDxC7jUjUx5ipTSbfeFnZI9HhLpdFYgqSASDuDzHxqiSs7DomqCQoA0vey3ofpQgOWM3mfhXUMp907CJfuYHDG3dyotlFWQNSAJkRqBtNNKXC0opVIXby88uX7MOji6tSTp1NMVhYW/P9HpreNK3FtXNWbVXUQD5EToazS4eM6TrUtlunuv2jTHiZU6qoVst7NKyfdbNmMKxG8KACgCPEYdXXK6hh0IkaVKbWUQ1cWYjgNrK0KWgHIjO2VSR90TprTqrIXShrwLiKXLVsd4C4AVgxhswGoIOs1e0KmNKUkKAFXEmLXrKfdnM3qASPjB+flWygkqU589kYeIblWpw5bv62+z+pUwLTcvsd2ulY5wigAf199c+ryN8S9VQ4UAFABQAUAFABQAUAFABQAUAFABQAUAaXvZb0P0oQHLGb+L5V1DKdF/8Ah+P/ANbg/wAhPpXOq/OzRFWQ7u2VaMwmDI6g9QRRCpKHysidOM7altldxUsDJeKAtBTN4iTrmiddq01H2nD62liVsJLFjJTSp8Q6abzG+W3m/fsX6xm4KAF7Yi8blxbdtGFvLILEMc4mRpGkHQ1bGmmr3Ecsm9z9KUa2UeR9y5sfPMBI9Knsl1DUyLCcOuXMSr37SoLQkFSCGedDPtQByPWnSUVhit3PSUEhQB5njOI7zELaX20KkbySCG9AInX19/V4aGig5y2d/wBHF4yp2nEKlH5lb8P7fka4ngeHuMzPbBZtzrPLUa6HQajpXLuzs2KrcMvp+quh15LdBkeQddSPUGlcIsm7RE+KuppdsN5Nam4D7gAw+FI6XRk6uoHGXY/8rd6/c2/zb+VHZd4agHETzsXxO3gmfgdPfUdkydSNlu329jDwOt1wnwADH40ypdWRqMM+JXV7Csp5WnzMPXMFkHy2o7JcmGojucWgfqb5I3HdsIHMknTTyNL2TJ1IE4mzk91ZuXAPvQFU+hcialUnzZGomzYn93X33l+GinX5edT2S6hq7jXD8SUtkdWtuPuuImDHhbZh5jrSSptZJUky7SDBQAUAFAEeIaEYnYKfpUxTbSRDaSuzlfvR1+Rro6kZ9LOjewH7Nwf5CfyisFT5mXx2H9IMQ4myp1JgrqGmCOuvTqNqtpVJxemOb8uvvlzKa1OElqli2b9P515dTTDYgm3nYdTtuoJgx5iDFTXpqFTTHu9ea8mRw9SU6alLv9L4fmslaxxpDq4NtSudGeIZBuRB38t6V0mi1SRe7PWDka64Ie8cxB3CjRF/y6+pNXWsrCd42qCQoAKAKfE8S1tQVy7wc3odhIk1fQpxnKzv5GfiasqcU428xNwe7mxVwlSDLemkCZ6+XnW7iY6eHik+hzuEnq4qTazk9LXKOyKcF2kw13uclyf0i2blskEAqGVdSfZOZgADqTI5VOlkXLVzi1hTBvWgehuLO8bT1oswuZu8UsrOa9bGUw0uogwTBk6GAdPI9KLBcxc4pZBjvUkGD4l8PhLS2uggEyelFmFw/tWxCnvrcNIXxr4iNCF11M6aUWC5EvErd6wblm4GBUQVIJBYCAQNm1Gh61ZSjeaTKq0mqba3/JP+hgQUJRviD5ETr67+dT2reJZRHYJZhh/TzRrYxOUlbrrmnSdJB2gfL3VM6epKUE7etmRCrpbjUavfHK694LTOAJJAHU7VSk27IvckldinjGJssoFzJkJjO4BX/pnc+Y0GtXRhpzL05+fQpdRzxD15eXX7C/CqcO6pmL2bsd04MhTHsbkwYkHWqqtOM05R3W6/I0JyjJRnz2f4Y0ZwIkgSYHr0rKot7Ivckt2bVAwUAVsfquX8Uz6AEke8ae+raOLz6ffZem5TWzaHX7bv12OXv8vwrbpQmpnRfYD9m4P8hP5RWCp8zL47D+kGNbiBgVOoIII8jUxk4yUluhZxU4uMtngVXLzlbdhG+1clC3NVSZuesRHmwrVUgnUcrYeV5mehJ9mot3aw/LH13HlvhVoW0tlFZU9nMA23PXnNRdlti7UEhQAUAFAFbiK+AnXw+KRvp0901bRfxpdcFNdfA30yeexWLNh1uwxLDxADTQhcz6TJUrr1rpwpKtF09rbfeyz4+RyKtZ8PNVcu+/Tpd4vlWz1PTWrgdQw2YAj3iuTKLjJp8jtQkpxUlzPNDsctu24tOxfJkt5iAFOVYIIUkRcBubHxMfKC5Nitxfg4siyiWr17vrnduyZfsw+H7k3WzA6AeL1J9CJgMcJ2Tto4bOxyszKDBjMt0ESZ53GOkbDzJLk2IX7GWypU3Xy5SoACje21ssREFoY6wOUzRqCwcR7Nu1xjaYBbzo13MdQEdGhFyfwnWRqddhBciwwTha2bTZWOlu2smBHciAdBv/XlT0n8aK66/wCtljifFVsBMysTcMKq5ZJALES7KJgbTJ5A1XYtuV+Icew9tA7mZD6ASwyKzOCp1EZSCDsYBqVdENJ7oBxDCCGD2+cCeY/h5H3ak+dO6k2rXEVKmndIrcSxSXhhGt6i4wury+z7skkg9QwEHrVUsJ3LFugt8IsqxYW1mZ11AJ3yg6CfKqlWmtnYmVKEvmSfiTnBpM5R6cvWNp86ZcRUSsn+/UR8PSbu4/r02v3kVm1cBIzDLJIYkk+SwfLzP9KsnOjJarZ6beftL8iQhWi3G+M538Fb+v8ABKuIhSW0Ke1/uPKq3SbklDN9vfUsVVKLc8W3/fgRsc+Zh7KghehJGp8xy+NS12cdPN79y6fn0Ii+0nqWy2731/Hqcwf5a2iHRfYD9m4P8hP5RXOqfMzRHYf0gwUAK+M4cjJeRTntOGOXcrswjnpWrh6jadN7Pbuf4MtamlJVF5967+tvUbYLjVi7lCXAWaYU6NoJ1U6irOxnZys7IO3p6lHUrvYscQvm3auOIlEZhO3hUnXyqtFp5W52ru21bvFXMpRv1bKe7KhnOTO2xMBpA6xuW0kXLV3tUwyqLcszBVJ0Vj3uUqNYzZZPtTziKixNyDH9r3XNktrKJdBBlvtrS3GyZwQMpFsnWDBBiDILEXHHD+K97cu2mTKbajMJnUs40YbiADsN6FdZQOzWRVjLYKAHL4WABjSGBBBUGSNAdh1rr05Wk2r5X2OHWipQSdsO3k77q/h06jzgNwGwscpHwPLyrn8XFqq7nT4GSlRVuWBhWY1hQAUAFABQBUtjvSGMFB7I/Efxny6fHpFz/wCtaefPu7v36GeP/a9X/wAeXf3/AK9TTinDhfUKXZRqCAFIYMIIZXVlPlpp8aqTLxLi+zCBMQ8O8r9nbRvEQllkygsPacsSeU5T1qbkWM8O4MmJFvFXrVyzeuQ72nykqVIIWSsiCoOkHXXyL2wFg4Za8eklLCfoyFozMbZhnMAATAHnFVVXyGghrVJYFABQBSiQf/cePQL/AFhT8a130tf+Mfq/6zHbVF/+Uvov4i1e9lvQ/SsiNhyx7hXUMp0X2A/ZuD/IT+UVzqnzM0R2H9IMFABQBUxHDbbjVQCNVZdGU9QRqKuhxFSMtV7+OfIonw9OUXFK3hjPXxFvGMVj1sPbsqlxysJdKgjX/wBRCd4kbEGtMZUJJu7T6f0qa4iLSsmuuz9OX18i9wXEW8QAl+yvf21XMHtiDpGZAR7MzpympqU1FKUZXTClWc5OMotNe7oZYfhli0o8CeAe2wBb2s2rHX2tfWqlduyLm0ldkgwNljn7u2xP3sqk6zOseZ+Jod1hgmmrosLaUEkKATuQBJ9TzpRijxyyptOTAMAAnyYECDymtXCzkqiS7/sY+NhF0pN74+5Z4eALaZYAyjb5/OqqzfaO5dQSVOOnoWKqLgoAKACgDDHSpW5D2KnCp7sAiANvMHWR0HlV3EW13TKOGuqdmvAuVQaAoA87ieIYl8S1u1lS3b0ZiAxJIDAxI0Mxp0ok1FEJNssYHDd2sTmJJZjESzGSYGwnlVEpancsSsWKUkKACgClw4ZlVuQEL59W9/8Av1rXxXwzlHm3nu7vL3sY+E+KEZcksd/f5+9y1e9lvQ/SsiNhyxHkK6hlOi+wRjhmDJ/9BP5a501ebSNCdo3Y9W4DsQefupXFrdApJ7M2qBgoAKACgBXZdjjGI8RtoAtuQCQ4lmE+1BAHTWt1Bx7JweLu9zFWjNVVUjmytbx98y3jLl+UNwItskbSSjGQC3JhJG0QdeU1qpxo2ahdy+67uhlrSrqUXNJRv46Xyv1XpbfvJLV97Uh1lesiSfxTtJ6bknyJpZQhVtpefePeLehZGpUo31rHXr3+fTdvluxnZvKwlTNZJQcXZmyE4zV4sVdqLid1kbVmIyqNyZ0+dbOAjLtNS2XMw/8AJSh2Wh5btZGt/HHCrbTubjh2CJlZNC2yEsw+PlVNS1R6755/s0UV2SUGscv15Fu7xmwoGa4BmmAJJMFgQAASTKsNOhqizNFzVuO2MwUXFZjlgA75igkE6GM6zBnxDqKLBcZVBIUAJMMrPfZb+4XMqq0oFJiGG5YwDrp0rfNxhRTpdbNve/d/Dm01OddxrdLpJ4ttnvxfOOg1xeIFtGczCAsY3gdKwnRFq9oFjWzeDHYZJnp4gcvzox1DIkw/BLjhO/fYORE51a4QT4pjwkaepFJKquRKh1GvDMKyBs7B3dizMBE6ADT0AquctTGirFykGCgAoAKANWYAa6CpScngVtRWRdjuLojMkEhQM7iMqZ5Azaz/ALTTqk7Jvy7yNad0jmiPIfGt9yg6H7A2F/s3CGIJsJqN9VFYqlWWqzeOhbGlG10s9R9aw6qZG5EH3Us60pqz2CFGMHdb7EtVloUAFAEeJvqis7GFUSaEruyIK/CrTXMQb+RlRUyKXEMSTJIU6gcp51pitKsI3djnFWBcRkOzAg++npzcJKS5FdWmqkHB7PBROGvd33ZKOIgMSVJA/FoQT1+laFUpa9eV6P8ARm7Kt2ehtPlfKfnv75C4CHAbNauEaFmlS2xi5zMaxAOg6QNO8bq0o9yz6f0ybTSleMu948pfXa/oY4xi8lyycwfu9bkESIIJPXadBrtU8NS1wmrWvsLxdbs6kG3fTvt7/I8xeES8qhtVDLcHmVMj1FcxNxfedhpSXcKLPZtbV0XULsFkqjPASe8JCaag942h8tdKs1qa+J2fW33/AHkq0Sg/gV10v9v1gTY7BDDPhjlvXbD3ES2lpZKMxtt3t08lBtyTrOY6DmrTTaZZFqSTRevdq7q3rgOHU4e1iUwrXBdOfPdW0VfuskFJuqD4p5xS2JuUcP8A+Idq4bCgZC63HvaMe7FoHQEqA2vPlV9OjdXfTGbFFWs00l1zi+5VwnbxLGGXEX7TIbmJyXgTmdVay1224Cr4pQIMoAgselLVk5tLklhE0aap3e7bu376FjtP2jIs4YX7Ud/L3Ft3pFuxKqbjOFh/bSVGmrQTlmqbO+C+65nqYrKWhQAUAFABQAUAFAGl23mEU0JuLuhJwUlZiXiOCRLqtAK3syOG1BIUsCOh0PxrQq9RrfYq/wAemuW/U5t7hev1/wB60aURqZ0h2A/ZuD/IT+UVgqfMy+Ow+JpBgJoAMw60AZmgBdx6O7CsYVrltWPKC4mfI7e+rKXzCz2PR1aKFABQBpdtBhDAEdDTRk4u6FlCM1aSuQHh1qMvdrHKANPQ9as/yKt76mVf41HTp0r0FNniXcu1pmzKhO+6LAIP8Qg/L3Vslw/bQVSKs39X+DBDiuwm6UndL1S38177h2zZkJQjUeE8qwJaZWkjpt6oXg/A8J23xvEba2lwQU5WDXEAJZUtQxliwzIwgQAGMkDnV8oKTuufvy8DPTm4rTKyty979b/Qu4LAYK4n6abpvzcW63du3ctiFCoHFkMRnELAMwQOYqunTlUloiW1qsaUHORthOBYZrK2LsgDvLagOYyXQAyEgbkeHXUwa0V6csaFhL3+zLw9ZZ1vLfl75d9ibCcA4ct0mwiK9phc7u0cqZ7S3EzZF8JMXGVo/hB2FY7s3YF+C7K4K/aVnw5K5WtpbveLulLMYthvYEnQjYZQNAKqnOSdkOoqw/wt+2MttXBKiACZYhdCT123qpp7jFqoJFeJ4myXipQm0qqSVBLAsWgwN10j1irI07xutxXKzK2O4jibQDm0MjgkAgygBEB2GmZgduR61YqUXzF1Meis5YFABQAUAK+0hIs5xvbZXE7GDEHpoTVlL5rCy2ObJH/GH+1brlB0R2A/ZuD/ACE/lrBU+Zl8dg4zhyzXvCxDW7Y0B1+0Mge6ng7JESW5WxWHuRfVlZsqW0UwTnUOSDoNTB1HlTJrDXeQ08m2Kw8i8bVtltkWwFyFZcPJYJAO0CY5VCe13nINb2N8cLhxBvi2xWyyoN9V1DwsS05tx+GiNtOm+4O97j+/ZV1KuAyncHaqE2ndDlHBYu7YuWsPlFxHJyPPiVQCSGHONIPStMZKSuVtWPSUEiXj+GvM9p7BINsO0ZoVjCxbfyYZhMGDB5ayiGefwNnHB7XhupNq1bcnI2QDuMxkyM8d9J8W3pLYINv0jG23uHKR31xVXNlPiuG6srtItxacjoH1NGAJblvG3bjoysLZJIYpaP3b/hBK7ZhZ3B9o6nWGjNxzF2EnTjPEkn4iu5xTFWrmVGdmIbvUXuzkIe0BlME5irP7UkkGNgavX/dh7/6+m5nlbh1dbfXn9didsfiHsZ7zanKjW3W2N7SSY9rOb0roSNdudJoqU8pNe+4s7SjVxdPx/o2HBUw7i3hrYICs6W5VUR8wi5AEE76mToK1UqkZU25fDmzaW6tlf6MNalJVUo3m7XSbSSaeHt97sv8AD7eZxm1KwXO32gEnTfc+Ww3AqutLTB22e3hy95LaEdU1q3W//wCrZ+vh5orjgV7uls57Zt2vZBUzcAuKwW4eQKjKYnMTJ08NYrnQseX4XwxMULo8SOl24sXbZBAFs2x3YzSbKuVZf8A2I0WctJKVxm/Zq5Dfagk5pkHUNczxJnl4diPI7UnaLoNpHPCMKbNhLbsCUEFuUSeu2lVyd3dDLCDhN0XcSblvW2trIXgwzFwQFPMAA6+Yq6CcY5EbuxxjcOLlt0IkMpHxFMiBRwe/nsoTvEN/iXQg+cis81aTLIu6LlKSFABQAs7RfqQOTXLan0Linp7iy2Oa8/8AiroWM50R2A/ZuD/IT+UVz6nzM0R2H9IMFABQAUAFACw4oW8S1y4twgIFtZELA5tWmPvSB7hV9O2krluOMFxa1dOVHGYCSpBDAaalTrzFPYi5NisWlsZnYKNJJ5SQJPQSRJ2FAM8pY7XXIgorEKWDF1XMNw4BP6uCBm2nmKbSRclHa4k+xbiAQS50JYKWYRKoASSxEQNCZqLBc2ftVcCM/dJlDBM2fwz4/HmaALZCjKZ1zj3lguekwdzOivlyl1DEaSJEwSN4qCSLiHD1uA/dY/eHlyPUVdRrypvquhRX4eNVdH1/fUVW7VyxcEm34toB1EqGGp6QRvrWxyhXg0r4/tv6YIwqcPUV2s/y/wDC1gpa8xBjKzSDOoMe4DpESOtU1bRpJeHv9l9G8qzfRv097W5DesR0BD2hAW7h7pJAUurEGNChInqJXah5i0RzMcN4it6YDKywSrbgMJU6aEEa1RODiOnc14vqqW5gXnFtm6KZkepjL76akshLYfogAAAgAQB0Aq0U2oA89w/9ZiCvsG6Yn8QAD6dM1V1eRMS/VQ4UAFACrjqibJOv2m3/AENB9xE1ZT5iy5HNX+at5nOi+wH7Nwf5Cfy1z6nzM0R2H9IMFABQAUAFAGtxoBPQE/ChARdnsMO7F94Ny8AzMREAgQi9FGnrWpq2EVd5Le4NYuYpMUQTetIbYhzAViSQUmJ1O/8AQUXxYLDKBMaTHy/2qCQyjoOnu6UAZyjaNKAM0AaXrmVWaCcoJgbmBsPOmjHVJIWctMXLewhOON11YqEVTCk+IEsJkkaRtpvBnQV0exVKLindvfl75nK/yHWmpNWS2e+/tY357DHhWCa3mnKJiAmi6dAdR6Say8RVVS1r+e5s4WhKkmnby29OXqxhWY1i7juCN20VWMykMs7Eg6ieUiR76lEMT9w1g4VrgAJTubhkQCNUk+4j31E1dMI4ZtxW+LgFm0Q91mBEGcmVgc7RsARVdOLvdjSeLHphVhBmgBDhRlvYhOWcP/nUEj5fOq6q2ZMS5VQ4UAU+I4xkyKihmckCTA0BOpg9KaMU9yGyizNfZCUdFtAscwIPeEEBR1AE67ainxFb7i7nN8+ZreUHRfYD9m4P8hP5RXOqfMzRHYf0gwUAFABQAUAYYToedACm3h7j27uDUxkyNbcHVVLghfED4lCmJnYVqi7q5U1yIU7OX1Mo4VlVEVw7AuBduM9y4o0Lsj6zMtJEU10RYj4hhbyZsTiX7u1aWbmW45YW1FgvBQTr3dwwOo5mgCTsqt+41nEC5nsPb0Od/EpVcpKN96QZMA67nkMEOOP427b7oWQCzswPhzGFRm0BuINwNZpUSxbhe2SvkC2i5uKhUq3hYs1pWhmAACm4PPQyAYBnSRc1vdr4tschzZAUJiHZsmgUEzq4EAltDpqCZjByaSIlNRTbKPBceL9osxVFi3cC94QftFFwplMjflvsJrpRk9Vkm+V9Pda5yZQWi7aSve2rvvboev4c8pB3U5dd+onzgisFeNp365Olw8rws+WPfkWqpLzBNSRexSLLfNy2yhrYABkaFjMgemmo5mrZ09EU3u/sU06vaTklsrZ78/bBNgsDbtKFtoFAEaDUx1O5PmaqbuXWLFQSFACLito2ryXVJi84t3FPs+ycrg8joB51EknEFhlus5YFAC3Hrnv2UmAua6evhgAT0ljPpTxxFvyFe6L972W9D9KRDHLGbz+VdQynRfYD9m4P8hP5RXOqfMzRHYf0gwUAFABQAUAFACW7jmw/6Y9tA7ZrMIfvF4T2h8h1HnWmGYoqluS4ftaGe7FsuiDMhUiWtqsu5zEDRtABqfjDaSLli32lV4UWXPeFltg5PHlZ1Y6t4RCEw0SI56UWJuQYHtWjZB3bBXdFWI8KutrLmAOmtyNNPD7qLEXH+Kwlu4ALiK4BkBlBAPUTUEmi8OtBs4tW85jxZFnSI1ieQ+AouAk4v2WF7FWrpa2LFtGW5Z7pftD90l9wF6eXnVlOrKHy8yqrShP5uXkScAwloF0XKRGRYAjKpYQI3gR8q18S5JKSVub8cGHhIwk5RbvyXhd/wtWyyH+JQA675lHNTO/tR8D5ElGpHu5dz9/waLnTferXXVdV9bejN8RdF05QZTKCYO+adGjUQOXn5UlKHZq7Wb+7D1Zqq9Kfw29b9SN7XszLxCgQNB1Pp1q2L3tjmVyjtfPIqjillHZVuIr2/aQkCQBMRygSZ/pSzSatP/Q0G070+WLdfebPqOxi008QEjNqYManY+h+B6VhlFxdmb4yUldEwpRjNAFTiuFW5adGEgqfcQJB9QdalYIYu4XdLWbbHcopPrFZ5q0mWLYtUpIuxfhxFlt84a3HMbPm9PCZ91PHMWhXuXr3st6H6UiGOWM38XyrqGU6L7Afs3B/kJ/LXOqfMzRHYf0gxFir2RC0Tl1PpVlGn2k1C9rlVap2cHO2xKDVZaFABQAUAULNhRiwAoi6hdwdi1tkyvH4gT9KvptuJXLcaPwmwQAbNsgRAyCBExGnKT8TT3INOIcHtXUyEBdZlQv4s2zKQRm12313ouFhVwLs+yG4MSmHe2jj9Fyp4ltqFC5yRq4yrr5e4S30Cw4xuNKsLaCbjREjwgayxPlG3oOdXUqSa1yfwr18PMz1q7jJU4K8n6W6+X6XMu1nNJHiLQdWU7MCDHQ00JOMlJchKkFOLi+Ym7Q3Da7tlUakLPQggr8gw99b+CSqKUW+/wDf4Odx8uycJJc7ee6/Iwx6iFce1IHqCdj9fdWag3dx5GviErKXPH1Fb33a6UUQEIMj73hkofX+lbdMYw1N7/vcwOc5VdEVhZ8cbFzC3SyyRH+3Wq5xSdkXU5OUbtHnMbwe41u9ZDWwrXHbMwOci+fZjbRifEDMLEc6VxbljZ/dIZSUVndP1Tfv0KXaPhlqwty5fu20w8tkDKxW33i3kgKoMktdDba5TVdSDtqRdTmk9L8vf1LeH4Vd8dxQty3mA7tZhwrKQIgHIBK65jK6CDlqmcXG1+auWwmp3tydvQnwnZm+1pA7KjFVzHM2cDuwpw8j7gPjmZn40lx7El/gtxL9sImZO8VlaSFtILzuyjXmpCkaTAAnYCYWLvAxFrJzts6EdMrGPlFZ6vzFkdhhSDC/jds933imHszcXSZgGVPkRT03m3UWRbLyk9Vn4il5knLWbzFdMzHRfYD9m4P8hP5RXOqfMzRHYf0gxrdQMpU7EEH300JOElJcsiTgpxcXzVilbvPbADoSqiMykHQcyDtpWuVKlWlenKzfJ48kzHCrVoxtUjdL/wCSz5tf7LytIBGx1rG007M3Jpq6AmoSvhA3bLNMPeDqGEwdROhjrFPUpunJxfISlUVSCmtn1KXFD3bW8QNrJOcdUeAfhoY8qak82Jn1PRIwIBGoOoNWEFTH4ko1qNmeD5jKxgepA+XWr6NNSUr8l+UZq9VwlC3N59Ga8HYtbDkybhL77AnRfKBAjyqeJSVTSuWPfiHCNyp65bu79dl5LBrh/wDzFzNvlGX/AAjcfE1M/wD+MbdXfxFp/wDuJ36K3h/sttfUBmzCFnMekbz51SoSbStvsaHUik5XwtyHGYkqLZGzuqnTWGB5b9PTXpT06alqT5JldWq46WubS9ffluUeKXFulU318M832kdQupMVp4eMqSc37X9MvEyjWah3/X+ZZc4gQAg/in3KCZ+nxqjh1dt+8mjiHZJd/wBhXwa7rmcBRmdvKPCJPvrXxUfh0xzt+TDwcs6pYzJ/YuYceEaRzjoCZilluXQ+UkI+VQNYp8YwouWmUgHnB2MA+R+lPTaUlcqrxbg7bjbBIoRQmXLGmX2fd5VgquTm9V79+5voqKgtNrd2xPVZaFAHmVx1u3dxWZhlV1YkawXUCNOeYbUlSLbViYu1xjZuqwDKQwOxBkVS1bcYUcSxd5zctWUUgEIzZtQHGvhMbDz3q2MYqzYrbeEM1tZLeWZypEnyETVd7u4xy5PmK6ZmOhOwzP8A2ZhIA/UW4jfYcorI1Tc8sZuoo4S9+R6HDsxBzddNIqqqoprSPScmnqJarLShi8T4svImPVtPCTyGupHnXR4bh0o9rLln+/TBzeJ4hufZLZ488Y8M5LllMqgdKw1J65uXU304aIKPQr8RuDu7g8oMbjNp/Wav4SEu2g++/oZ+MnHsZrus7d+CHhY8TnRgY8Q6gDwqZ1XpoPfNW8ZZQgtnnHdfd9/X8FPBZnOSysZ77bLu6fm5Fxm8r2WIg926kqdmyMCUI6Go4WnKFVJr5k/qhuKqRnSbi/lkvWLTsenUVWakK+NMGsh1AbIwYGYKw0EjbUVr4VONXRLF164MPGOMqOuObNNPpndFnhNvLZTqRmPq3iPzNVcRK9R+npgv4WOmlHvz65KF+5cRnYeN1BVdOqgrIHnoT9K0wjCcEtlu/WzMlSVSE5SWWrpel1+g4bghcUB5NtPCqkRnP3rjjnLSBy3Os1Faq6b+H5nu+nRLyDh6CqRtPMVhLr1k/O9uXPmacWxJN9La/dnxbQSN5g8p5dabh6aVKU5c/sLxVWTrxpx5c+jt+hVZBU94Wg8j+FNvDJicpBgwZM7aHZK0loS/r7+6/wBDBC8X2jefstscr2ez5523fWpaHYySOmgB1gA/MnesVlH4YnTTc/il/oBh1kGPZ0A5ddutTrZHZxuiWlHCgDFAEvC4CZREIxWByEyB8CKz8TfXd87F3C2VPSuTaLc1QaRV2p4q2Gwt29btPduKv2dtFZiznQCFE5Z1J6A1KVyGeY4befFsGNo2hc7u/cS4rK6svhZApAPtKTJ5EHnUTajnyCORlj8PctOHwy/rWyusHICdrhA2jn1quLUlaQzTWxPwrCvbswyr3pJLFeZJOsncxReMpq+xElJQdtyabmVpjb72nLcQKefZXVvp/WVQ7bn9cfZHL+v8Fashg6N7Afs3B/kJ/KKwVPmZfHYf0gxC90k5UgnmeS+vU+VaqPD6vinhff31M1Wvb4YZf299Clj8KORYZADM7sWkE9dcxjzFdDtFFqNlnHlbl9Ec6dK6ck38Kv4u91frzdti3hsVmJUiCADvuGEzXMrUNC1J3V2vRnSo8R2j0tWdk/VC3EqxZmVZXNmYTvlBA1/DImNfrXRp6FCMZO0rWXm/vZ2ObV1ucpRjeOq7Xgrel1cYYaEQknQEyf8ADp/SsfFKVStpXdbzybuGcadFyk+t/LH4FParCqVS4IBDiW8iDBb3wJ5TWj/jq0oz0N46ff35mb/kqEZQ1xWev29+Q+XiTNbYhYYQBJESTlnTo3Lnp1qXw6jNJvHt/YdcVKVNtKz9r6MoKJsKhOsO1wA6TJ1nnzIHM61p/wDuckuiRk3oKDfVyt4/78dyxaJRyLJBGUJ4laF7vSJ0BG+3OqnHXH/s3u3i2bl0W4TfZPFksp404995YVTJZjLHfpAmAPjUYSstizLep7kWGRrZJHj8IVZMZQJ5Aa76n5VNRRmrbZu+8SlqptvfCS5Wt5er+hDfw0ZmLKWaIzDwz8ZjlE1ZCW0UnZdNyqdPeTau+u1/fK5WF9fw53Y5tRoDowy6SRMHrVul9bL2slWuPS73zsueMbDHCjwyRBbVh59fKqJ72NVP5b2s3uTUg4UAV8fh+8tvbzFc6lZG4BEGPOKGSKBwK4vs3yFAgDxCRmk54aSxG7TJPSo0hcocB4bcbvLa4i4C83A2oHiyA6KwnrqPvnXTRuLouCUm78u/mVcDxMZtxStzxty7/wCedxu3Zy/nDfpTAjLr45IVywB8cbHKQIBgE1hudGxZ4fwu9bxEm47WlBjNcYkkiMsE6jcknWYjoC5Nja9rjHn7tlI/6mefoKqq/Kho7lqqRwoA0vey3ofpQgOWI8hXUMp0P2CDnhuD2Udwmu5PhHLQD51WuHg3qlkSVae0cfUf/o4O5Y++B8BpV0YQjtFFLcpbyfvwJVUAQBA8qdu4JJYRUxuHkMdTzKiNYHKefv5U0Lak+fUqqxehrdb2xkqtgnd85CyoULOkkEn1AII0ogowg6abs7/VL7CzjKpUVRpXSX0b+jusGTZLOUg7gsw8iW085IA32mhR06ZdE7edkDvJyg+bV/K7/NvqGOsudBIQMSehBjcjXQljt06VEIxU3O13ZeN1+8e2FXW4qCdld+Fn+m37RDxXGIlkC9cRUvfZqHBzMzaBEC+0x5QOXwq7GnGevK9+8F3aVZw0q1u/f6ety5gcGwtoLhOZQAdfwkka/XrFXXUcLPeJpcrOWNrpepctWlUQoAG0Dy0qHJt3Y8YRirJGtx1tqSYAAJj01MChJyZEpRpxu8Ihu44BsuVj5j/p/wDkKdU7q9/ef0VyrKMrWfu37Iu9a6gYKYkyAdxGhmRoDv6U1lCVriapVIJpe/oFrAEnNcaZEED/AAkHU+p+VDqpK0UEaDbvN+7W/Jaw+GCTHMz6eQ8gKrlNy3LoU1C9iakHCgAoAKACgCgyD7IIcrm6VlSASmsz5ZVAnyFPd/E5K6038/b+5S0vgUXZ6rY6Z38kvRD+uadUKAPN8btsb7BJDNZWIMezd11kciedRK1k2CIEw98Llk6xBz7QXMHWZIKjnt5Ul4k2ZG2BxAgBzzB8Z2ZUE6k6jxH19anVALMsYe1eDMXMqUyxmmCqjWPM5vlStxtglXOao8hXQM50b2B/ZuD/ACLf8op1sUS3JeINjBcY2lVrekAlQdABz6lid9O7/iqHe5K02Mu+MKXPDbDgju8pHiAIJnNIEgEa7Zh0qckKxFbuY4AyiMczEarsSSo0YaAeE6SIB8WtR8QYJ1fFlXlUDApkIjUTLGCdo0gwfrRkMEC3sdMd2gkbkqQpgaABgTqD8RUfET8JawoxTTnKJqI8M6Aa5YbmdJY8hprTZIwYxGFCFHIN1wZLOJYdMgAyprHsgaVZTgpXuU1ako2svH342JLOJuwJSTAmAdzG06c/dFWShC+GUwqVbK68ffuwLhrpklyCZG4iCX6DzX4UOcFsveP6Cp1Xe795/aJmwQIXMSYEHzjn1Hupe0tsWOimlqZY7oTMCetV3drFulXvY3qCQoAKACgAoAKAEeM4gRfZWvd3lNvu7YQMboc6nUZjrK+EjLGY6UreR7YKSdqmIWEQlioOVyQmcEnP4ZHdwA23trtUag0ohLXb19U73uWwt1bl02oPeqvhYP8AhnfKdYnQ70z1TWm4iUKb1299T13HMabdvwfrLhCW9J8RBM+gAJ16ViRuYqtYa7ZfvUJvM0i6GYLm2ykD2RERGm9Iqie5LjbYjuY5mu2ndQjo5suoadLiB1IMCdQPiaaSvHBCwxxWYtCgDS97Leh+lCA5Yy/w/OuoZTo3sD+zcH+Rb/lFOtiiW4/qRQoAKACgCnh+IK3VdA2sbNoNidfI1bKk4lEOIjLu5+vgWFvqYhhrEa9dvjB+FI4tci1Ti9ma3MSikgsAQJI8gJ+mtSoSeUiHUhF2bNHxgCo0E5/ZGk6gnUkxsOtSqbu10FdZKKlbfbbxNrWLRgusZhIB3j/gPwqHTkr9xMasJJZ3MDG24nOsTEz5T9Nans53tYO2p2vdGXxiAHxDRc3uAn6R8ahU5Pl3A6sFfPK5MKUsM1ABQAUAFABQB5DE8bvW793xyitcGTwkhVtBlYqLcqub75YgyBGshNTTLNKsbWe1FwW0zFC2W6Xze0e7Z1Urk8MtAOUA6EmYGpqI0lvgfErt9QjQfDdDOYlirZFICeEAg5tzpETM00JZQlSN4tdRpxu/KWbkHJbug3eq+EjXyBImORmstSDi2jVSqKST9e4uViNJAcFb7zvcozxGbnH/ADnU6naxFle5PUEhQBpe9lvQ/ShAcsZfL511DKdG9gf2bg/yLf8AKKdbFEtx/UimGYDUmB51O4NpbgrA7EH0otYE09jW6mZSJiQRI86E7O5EldNFNeGgfeM6TAUAhQYEAec+oFXds+n3KFwyXPpyXK/7NsLgcrTyVQq+4HxHTfUj09aidXUrdXcKdDTK/RJLy5+OTa5gQS0sYaTGmhZcpPU6fWoVS1se9xnRTvnf8qxtisLnKmYyzyB39RvUQnpuNUpa2s7eH5Ihwtep2AG0iFygyR0+dN28vfjcr/xo9fdrGuKwBPsGJBBPQFVWAI6CphVS+b3zIqUG/ldvxhLGO42bhqySWOsiNNmI0+UelR2ztZIl8PG92/bt+rF6apNAUAFABQAUAFABNABNAGr3QNyB6mpSb2Ickt2Q4hRB5rcUo3QhhAPuJ+BNFr78s/tEN2yueP0/I1wDzbXyABHQjQj41zeJhoqyXffyZt4WeujF91n4rDLFUGgKACgDS97Leh+lCA5YjyNdQynRXYG8v9m4PxD9Rb5j8Ip1sUS3H3fL+JfiKkgjxBRlILD3EctaaMrO4k4alZkWByKshh4oYyw5601SV3boJRgoxuueSz3y/iX4iqy4O+X8S/EUAHfL+JfiKADvl/EvxFAB3y/iX4igA75fxL8RQAd8v4l+IoAr49lKHxjwydx0PPl609OVpFVaN4+BJhyqiM6n3gfKaiUru40IaVYk75fxL8RSjh3y/iX4igA75fxL8RQAd8v4l+IoAO+X8S/EUAHfL+JfiKADvl/EvxFAFbGBDDZxIIGjAbmJ+ZqyErYKatNPPh9/6T50iMyxERI2pL5uW6VaxTsXFtswZ1hjKmfd4j1OnrVPFw7RKUVlbk8K+ybjN4bx/X1+5afFIIll1MDUb1zlBu9uR0JSStfmbd8v4l+IpbDB3y/iX4iiwGt68uVvEux5jpUpEHLcf4q6RmKWI9pvU/WqmOR1AGaABt6CWYoICgAoAKACgAoAKAMPsfSpRKNqggxQAUAFABQAUAFABQBhv9vrUkozUEAdj6GglGW2+H1FWsRBTChQAGoJIKUk/9k=">
            <a:hlinkClick r:id="rId1"/>
          </p:cNvPr>
          <p:cNvSpPr>
            <a:spLocks noChangeAspect="1" noChangeArrowheads="1"/>
          </p:cNvSpPr>
          <p:nvPr/>
        </p:nvSpPr>
        <p:spPr bwMode="auto">
          <a:xfrm>
            <a:off x="53975" y="-1210866"/>
            <a:ext cx="3143250" cy="252888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390" name="AutoShape 6" descr="data:image/jpeg;base64,/9j/4AAQSkZJRgABAQAAAQABAAD/2wCEAAkGBxQTEhUUExQWFhUUGR0YFxgYGBofGhsaGBoaHCAXGRgaHCggHRolHR4bITEhJSkrLi4uGiAzODMtNygtLisBCgoKDg0OGxAQGywkICYuLCwsLCwsLCwsLCwsLCwsNCwsLCwsLCwsLCw0LCwsLCwsLCwsLCwsLCwsLCwsLCwsLP/AABEIAOkA2QMBEQACEQEDEQH/xAAcAAACAgMBAQAAAAAAAAAAAAAABQMEAQIIBgf/xABGEAACAQIEAwUFBAcHAgYDAAABAhEAAwQSITEFQVEGEyJhcTKBkaGxI0JScxQzNVRissEVFnKSk9HwguEHNFNj0vEkJUP/xAAZAQACAwEAAAAAAAAAAAAAAAAAAgEDBAX/xAA2EQACAQMCAwYHAAICAQUBAAAAAQIDESESMQRBURNhcYGR8CIyobHB0eEU8QUjYhU0QkNyM//aAAwDAQACEQMRAD8AedluA4H+zsJdvYa0zPaQs5QEksslmJ+ZrJKU3JpMtSVsjEcC4dp/+Da1OUfZrqRvzqLz6k2j0JsJ2c4dc9nCWOf/APNeRA/qD76hymt2CUWav2a4cHg4Sx+E/ZruYI1j1q5Qqunq8/JGd1qaqafLzZpwnslgnD3DhLMXGlAba+wAAD79T76qnOSxc0KKZLgeznDbubJhLBCMVJ7tdx08qiUpx3YJRZZ/udgP3Ox/pil7SXUnSg/udgP3Ox/pijtJdQ0oP7nYD9zsf6Yo7SXUNKD+52A/c7H+mKO0l1DSihiuwOEZ86WrSeGMvcoVmZkyP+daZVmlZkOCIm7DYfUulhQYEJYQfDMCQTTxqOTtFfUWSUVdkmC7B8P0Y2LbldNVWBp5ASKmtUmpPFhaKi4rN+ow/udgP3Ox/piqe0l1LdKD+52A/c7H+mKO0l1DSisOzfDu87v9Dsz17sZZAByz1ykH0NTrna9wtEs/3OwH7nY/0xUdpLqGlC3EcI4YjOpwdqbftRaXbLnJGskBZJPlAk6U6dRq9yPhGX9zsB+52P8ATFJ2kupOlFHEcD4YhYHB2vCYb7EQBAOaTuoBEkTTJzfMi0SMcG4ZKlsLYQNKw1tQcwAaP8pzek7Qae89NuYtlqvyLWD7N8Nuzkwtg5d/s46jmOoI9xqtzmt2OlFk57IcP/dMP/kWhTm8ZIaislZuz3DAY/RrBPRbcn5A1eqHENXtbxsvuZ3xPDp2vd9139rmB2bwB1GAtEde7HzET9ad0ZKylUSfT3gVcRfMYNrr7yYPZLBuYGDsAfliPeSAfcPeadaKKvOWp9Pf59BG6lV2gtK6+7ei82Tf3KwCqYwlk6blF5D0rJOvKTvt4GuFJQVsvxyc5/o6/h+dbbFR987FcVReHYVHRs4s2wikCXzACU5R16Csc4NybRepYHgxndmbuHKA7MkPr0OUSCfSPOk032ZN7boj7+6zDusMF0kNcgaaARlkgxrB5CpsluyM8kQ4jF5ke06RiWlAqg+ImYuA/g5np61YpSWz+ERwg8tZHBssLWRCAwTKp5AgQDWe61XZbyEFjC3LT2UDW1uMAsqW1OUwtxJhgYIDgAyK03U0yuziOsFjGZmt3FyXUgkDVSDMMh5jSqJw05Q6dzXGcTCPlyMwUBrjKJyA6AkbkaHbaiNNyVwcrFy1dDKGUgqRII2IpGrDG9ABQBpdthhB2poTcHqQk4KcdMtgtWgu3/P+1E5ynuEIRhsb0o4UAKMQWGJ+zFoubcnO7A7xIAB5BZMDYank6+XIvMsZ8T+Cx/nf/wCFR8JOSjiOHXXbM1uwZnMC93XbY5fCOoA8Wk0ykkrEWJsXj76RK2MxBKjvHE5d9SkADqahRTBtkL2bl4BwmHYZgSc9zxZZGU+EfAztqKm+nGQtc1v4RlQZrWHyqZEvcJkxsckzoB6abU9OMqkrRvcSpONOOqWxWaxiYZyLFm3GZvG48ILMcxK6asxk9dq19pRou0Vql15e13epi7OtXzJ6Yu2Ofn49/oXcJdSWF1rauGCjK8g5gCN1EGZERHhqt8XW5Fv+HRGysq6SJHnrqefPc/Osk5ym7s1QhGCsiWkHCgDS97Leh+lCA5YjyNdQynRXYFQeG4LQGLCR5eHlXOqfMzRHY9BSDBQBiKAKWL4iASlsNcux7KLmgnbMdl95p4028iuSRb4VwdEVGdA16AWdvE2aNYY7a9Kvb6CJFbinBLt2/wB6LwXIpFoBRIJGuYndSanFrBm4txfDsW2W7kQXR7OQgFIOgYkw6MJkcqiKUcIG2yx2ew5tC7bPtJc1APhGZVYBeg1j3VVW3TGhsNqqHF17jNtb4sk+I89MoMEgEzvp8x1p1TbjqF1K9hjSDBQBTx3EktgyQWH3Z1/7Vq4fg6tZqyx1MfEcbSoJ3eVy5lb+3FC5nRxrAgSD5htBV/8A6bOU9MJJ+OH6bmf/ANUhGGqcWvBXXrsa2cVYa73guEGJytosxlLQRJaBG8RVc+C4iCtp9M95dD/kOGm8St447uZYxHFkWN2LHSPrrFTT/wCPrTvfFuv8Iq/8jRhZK7v0/tjFviysTlR2ymCQNJ+NEuAnBLXKKv3kQ/5GE29EZO3O39IcfbsX0Du3hUHYgGDHOMw2HskT5iq/8etCp2aWS5cVRnT7TVgkw18KMlsPdaSSxgeJiSSzQB7gKZ8M1mq1FfXySF/yk8Uk5P0Xm3+CVcKzFTcb2SGCjaRtP/Pf1JV6cE40o74u97ER4epNqVWW2bLa/f78+tq/aDqynZgQfQiKxp2dzYLn4GhbNmfnp4YhjLL7OzHU8+hFP2jI0mzcEtFy+uYnMTpyZm6bSx+AoVRrAaUMqQYKANL3st6H6UIDliP8VdQynQvYa6w4ZhPDtYSDM8hyGtY3CLna47qSUb2H2GvFpkRH/f8A+/fS1acYW0u5NKpKd9SsT1SXGtxwoJOwEn0FCyBH2XsMtoswjvXNwSZbK8EZj1+gitT6FSGOLxtu0AbtxEBMAuwUEwTAk6mAT7jQSSowIBBBB1BGxHUGoA2oAWcU4RnPeWzkvCIbWCB911B8QjSp3wyPAXDiF1dLmGvCBqVAYSN4gzl5yaqdLoxtZBwThy3xiLrQbV8kIGGoyypeSPDPx0q5XSS5idWacP4yAjJdP2to5CObEDcevWrP8Gc9MorD3fTJmlx9OnqjJ5Wy64uZt3MTcWTFuCS0KZgDYSdT8K0ShwVGWPjbtbOPHu+pkjPjq0bytC174zbosu/0I7GFse0yMx3MmeQ1OvORoaepW4r5YySXd5/a3L7iU+H4T55xbfe79Pvfn9i/cxylSChKkbaajLJ0nSNaxR4aakmpJPzw7+BvnxMJQalFtdMZVrvn4i69hbBMRcmdfENwcuUkz1BrfCvxMY3Tja3R7b3SRz6nD8LKVmpXv15rFm3fxLmHv27ajImvOYnTX47x76y1aVWrJupL726fq5qpVKVKKVOP2v1/dvNmLeBtXGeUiIkKxCkydwIEyPnUz4mvRhG0r36pXW3PPUiPC8PWnK8LW6N2eXyx08y6MBakNkWRtpoPQbVkfF1nHTqdvH87mxcHQUlJQV13fjYsgVnNAUEhQAUAFABQBFiHIGgkzGxP0+tWUoxk7SK6spRXw+/fUhN5yjEprB5xy8/+aU86cFKykVwqVHG7icva+fxP+1bMkYOjewH7Nwf5CfyiufU+Zl8dh/SDBQBV4nhu8s3EG7KQPXl86aDtJMhq6NbHHGUJ3thrdvRWckeExE5Rsk6T6aVoum7JleUXOK8N75rDByotOzkqYYhrTp4SPNgfdQmDPN4bsjfBtg3ECKttGCM6hltmwYyhdB9m4jNB7w6CTLakRYi4jwXEr9nbVmIDlXDMMqm3eC2l1iMzJ0MjoAQXQEnFrTYRM92/asW71xbYBe6QrFrZCp4ZJbI5OgAzHzkWQPV8Hwfc2LdsmWVAGaSczQMzSddTJ160rJRvxB8lq4QB4VY+WxqyjHVUiu9FXES00pS6JniuzeFViGygsHJcn7oUEKo9SZ91b+OrVIa9TaTVkuvV++pyeAoUpaNKUmvik+mMLx/R6thIg864SbTujvtJqzI1w6ARlHv1+M1Y60273K1RppWsjcWx0HwpHKT5jqMVsjDWlO4HwqVUktmQ4Re6NopbsaxmgkKAME0AGYdRrtQBhXB2IPoaLAZzDeRrQBmgAoAKANL3st6H6UIDlifM11DKdF9gP2bg/wAhP5a51T5maI7D+kGCgAoAwygiCJB3BoApcLvCxdNliVtvHcyZUEDxIDuNdgfdWiL1Irasx8zgbkCetSBtQBFiMMlwAOiuAQwDAESNQYPMHnUkEtQSLuOP9nlic5A+cyfLStXCL/s1dDHxr/69PVpC3A4ZbV+9bTRALbR/EQZ+IANZeJqSqNSluaaFKNKOmKwMazF4UAFABQAUAFABQAu4jbJu2CASAXkxtKECnjsxXuhTw3C3E/R1Ktkyl+fgYoQyHprqPUirZNO4qTwZ4dY/UZLbKyW2705CsysZSSBmObXntUSe934AuRpfw125asW1Q/Z2s8kxDxC7jUjUx5ipTSbfeFnZI9HhLpdFYgqSASDuDzHxqiSs7DomqCQoA0vey3ofpQgOWM3mfhXUMp907CJfuYHDG3dyotlFWQNSAJkRqBtNNKXC0opVIXby88uX7MOji6tSTp1NMVhYW/P9HpreNK3FtXNWbVXUQD5EToazS4eM6TrUtlunuv2jTHiZU6qoVst7NKyfdbNmMKxG8KACgCPEYdXXK6hh0IkaVKbWUQ1cWYjgNrK0KWgHIjO2VSR90TprTqrIXShrwLiKXLVsd4C4AVgxhswGoIOs1e0KmNKUkKAFXEmLXrKfdnM3qASPjB+flWygkqU589kYeIblWpw5bv62+z+pUwLTcvsd2ulY5wigAf199c+ryN8S9VQ4UAFABQAUAFABQAUAFABQAUAFABQAUAaXvZb0P0oQHLGb+L5V1DKdF/8Ah+P/ANbg/wAhPpXOq/OzRFWQ7u2VaMwmDI6g9QRRCpKHysidOM7altldxUsDJeKAtBTN4iTrmiddq01H2nD62liVsJLFjJTSp8Q6abzG+W3m/fsX6xm4KAF7Yi8blxbdtGFvLILEMc4mRpGkHQ1bGmmr3Ecsm9z9KUa2UeR9y5sfPMBI9Knsl1DUyLCcOuXMSr37SoLQkFSCGedDPtQByPWnSUVhit3PSUEhQB5njOI7zELaX20KkbySCG9AInX19/V4aGig5y2d/wBHF4yp2nEKlH5lb8P7fka4ngeHuMzPbBZtzrPLUa6HQajpXLuzs2KrcMvp+quh15LdBkeQddSPUGlcIsm7RE+KuppdsN5Nam4D7gAw+FI6XRk6uoHGXY/8rd6/c2/zb+VHZd4agHETzsXxO3gmfgdPfUdkydSNlu329jDwOt1wnwADH40ypdWRqMM+JXV7Csp5WnzMPXMFkHy2o7JcmGojucWgfqb5I3HdsIHMknTTyNL2TJ1IE4mzk91ZuXAPvQFU+hcialUnzZGomzYn93X33l+GinX5edT2S6hq7jXD8SUtkdWtuPuuImDHhbZh5jrSSptZJUky7SDBQAUAFAEeIaEYnYKfpUxTbSRDaSuzlfvR1+Rro6kZ9LOjewH7Nwf5CfyisFT5mXx2H9IMQ4myp1JgrqGmCOuvTqNqtpVJxemOb8uvvlzKa1OElqli2b9P515dTTDYgm3nYdTtuoJgx5iDFTXpqFTTHu9ea8mRw9SU6alLv9L4fmslaxxpDq4NtSudGeIZBuRB38t6V0mi1SRe7PWDka64Ie8cxB3CjRF/y6+pNXWsrCd42qCQoAKAKfE8S1tQVy7wc3odhIk1fQpxnKzv5GfiasqcU428xNwe7mxVwlSDLemkCZ6+XnW7iY6eHik+hzuEnq4qTazk9LXKOyKcF2kw13uclyf0i2blskEAqGVdSfZOZgADqTI5VOlkXLVzi1hTBvWgehuLO8bT1oswuZu8UsrOa9bGUw0uogwTBk6GAdPI9KLBcxc4pZBjvUkGD4l8PhLS2uggEyelFmFw/tWxCnvrcNIXxr4iNCF11M6aUWC5EvErd6wblm4GBUQVIJBYCAQNm1Gh61ZSjeaTKq0mqba3/JP+hgQUJRviD5ETr67+dT2reJZRHYJZhh/TzRrYxOUlbrrmnSdJB2gfL3VM6epKUE7etmRCrpbjUavfHK694LTOAJJAHU7VSk27IvckldinjGJssoFzJkJjO4BX/pnc+Y0GtXRhpzL05+fQpdRzxD15eXX7C/CqcO6pmL2bsd04MhTHsbkwYkHWqqtOM05R3W6/I0JyjJRnz2f4Y0ZwIkgSYHr0rKot7Ivckt2bVAwUAVsfquX8Uz6AEke8ae+raOLz6ffZem5TWzaHX7bv12OXv8vwrbpQmpnRfYD9m4P8hP5RWCp8zL47D+kGNbiBgVOoIII8jUxk4yUluhZxU4uMtngVXLzlbdhG+1clC3NVSZuesRHmwrVUgnUcrYeV5mehJ9mot3aw/LH13HlvhVoW0tlFZU9nMA23PXnNRdlti7UEhQAUAFAFbiK+AnXw+KRvp0901bRfxpdcFNdfA30yeexWLNh1uwxLDxADTQhcz6TJUrr1rpwpKtF09rbfeyz4+RyKtZ8PNVcu+/Tpd4vlWz1PTWrgdQw2YAj3iuTKLjJp8jtQkpxUlzPNDsctu24tOxfJkt5iAFOVYIIUkRcBubHxMfKC5Nitxfg4siyiWr17vrnduyZfsw+H7k3WzA6AeL1J9CJgMcJ2Tto4bOxyszKDBjMt0ESZ53GOkbDzJLk2IX7GWypU3Xy5SoACje21ssREFoY6wOUzRqCwcR7Nu1xjaYBbzo13MdQEdGhFyfwnWRqddhBciwwTha2bTZWOlu2smBHciAdBv/XlT0n8aK66/wCtljifFVsBMysTcMKq5ZJALES7KJgbTJ5A1XYtuV+Icew9tA7mZD6ASwyKzOCp1EZSCDsYBqVdENJ7oBxDCCGD2+cCeY/h5H3ak+dO6k2rXEVKmndIrcSxSXhhGt6i4wury+z7skkg9QwEHrVUsJ3LFugt8IsqxYW1mZ11AJ3yg6CfKqlWmtnYmVKEvmSfiTnBpM5R6cvWNp86ZcRUSsn+/UR8PSbu4/r02v3kVm1cBIzDLJIYkk+SwfLzP9KsnOjJarZ6beftL8iQhWi3G+M538Fb+v8ABKuIhSW0Ke1/uPKq3SbklDN9vfUsVVKLc8W3/fgRsc+Zh7KghehJGp8xy+NS12cdPN79y6fn0Ii+0nqWy2731/Hqcwf5a2iHRfYD9m4P8hP5RXOqfMzRHYf0gwUAK+M4cjJeRTntOGOXcrswjnpWrh6jadN7Pbuf4MtamlJVF5967+tvUbYLjVi7lCXAWaYU6NoJ1U6irOxnZys7IO3p6lHUrvYscQvm3auOIlEZhO3hUnXyqtFp5W52ru21bvFXMpRv1bKe7KhnOTO2xMBpA6xuW0kXLV3tUwyqLcszBVJ0Vj3uUqNYzZZPtTziKixNyDH9r3XNktrKJdBBlvtrS3GyZwQMpFsnWDBBiDILEXHHD+K97cu2mTKbajMJnUs40YbiADsN6FdZQOzWRVjLYKAHL4WABjSGBBBUGSNAdh1rr05Wk2r5X2OHWipQSdsO3k77q/h06jzgNwGwscpHwPLyrn8XFqq7nT4GSlRVuWBhWY1hQAUAFABQBUtjvSGMFB7I/Efxny6fHpFz/wCtaefPu7v36GeP/a9X/wAeXf3/AK9TTinDhfUKXZRqCAFIYMIIZXVlPlpp8aqTLxLi+zCBMQ8O8r9nbRvEQllkygsPacsSeU5T1qbkWM8O4MmJFvFXrVyzeuQ72nykqVIIWSsiCoOkHXXyL2wFg4Za8eklLCfoyFozMbZhnMAATAHnFVVXyGghrVJYFABQBSiQf/cePQL/AFhT8a130tf+Mfq/6zHbVF/+Uvov4i1e9lvQ/SsiNhyx7hXUMp0X2A/ZuD/IT+UVzqnzM0R2H9IMFABQBUxHDbbjVQCNVZdGU9QRqKuhxFSMtV7+OfIonw9OUXFK3hjPXxFvGMVj1sPbsqlxysJdKgjX/wBRCd4kbEGtMZUJJu7T6f0qa4iLSsmuuz9OX18i9wXEW8QAl+yvf21XMHtiDpGZAR7MzpympqU1FKUZXTClWc5OMotNe7oZYfhli0o8CeAe2wBb2s2rHX2tfWqlduyLm0ldkgwNljn7u2xP3sqk6zOseZ+Jod1hgmmrosLaUEkKATuQBJ9TzpRijxyyptOTAMAAnyYECDymtXCzkqiS7/sY+NhF0pN74+5Z4eALaZYAyjb5/OqqzfaO5dQSVOOnoWKqLgoAKACgDDHSpW5D2KnCp7sAiANvMHWR0HlV3EW13TKOGuqdmvAuVQaAoA87ieIYl8S1u1lS3b0ZiAxJIDAxI0Mxp0ok1FEJNssYHDd2sTmJJZjESzGSYGwnlVEpancsSsWKUkKACgClw4ZlVuQEL59W9/8Av1rXxXwzlHm3nu7vL3sY+E+KEZcksd/f5+9y1e9lvQ/SsiNhyxHkK6hlOi+wRjhmDJ/9BP5a501ebSNCdo3Y9W4DsQefupXFrdApJ7M2qBgoAKACgBXZdjjGI8RtoAtuQCQ4lmE+1BAHTWt1Bx7JweLu9zFWjNVVUjmytbx98y3jLl+UNwItskbSSjGQC3JhJG0QdeU1qpxo2ahdy+67uhlrSrqUXNJRv46Xyv1XpbfvJLV97Uh1lesiSfxTtJ6bknyJpZQhVtpefePeLehZGpUo31rHXr3+fTdvluxnZvKwlTNZJQcXZmyE4zV4sVdqLid1kbVmIyqNyZ0+dbOAjLtNS2XMw/8AJSh2Wh5btZGt/HHCrbTubjh2CJlZNC2yEsw+PlVNS1R6755/s0UV2SUGscv15Fu7xmwoGa4BmmAJJMFgQAASTKsNOhqizNFzVuO2MwUXFZjlgA75igkE6GM6zBnxDqKLBcZVBIUAJMMrPfZb+4XMqq0oFJiGG5YwDrp0rfNxhRTpdbNve/d/Dm01OddxrdLpJ4ttnvxfOOg1xeIFtGczCAsY3gdKwnRFq9oFjWzeDHYZJnp4gcvzox1DIkw/BLjhO/fYORE51a4QT4pjwkaepFJKquRKh1GvDMKyBs7B3dizMBE6ADT0AquctTGirFykGCgAoAKANWYAa6CpScngVtRWRdjuLojMkEhQM7iMqZ5Azaz/ALTTqk7Jvy7yNad0jmiPIfGt9yg6H7A2F/s3CGIJsJqN9VFYqlWWqzeOhbGlG10s9R9aw6qZG5EH3Us60pqz2CFGMHdb7EtVloUAFAEeJvqis7GFUSaEruyIK/CrTXMQb+RlRUyKXEMSTJIU6gcp51pitKsI3djnFWBcRkOzAg++npzcJKS5FdWmqkHB7PBROGvd33ZKOIgMSVJA/FoQT1+laFUpa9eV6P8ARm7Kt2ehtPlfKfnv75C4CHAbNauEaFmlS2xi5zMaxAOg6QNO8bq0o9yz6f0ybTSleMu948pfXa/oY4xi8lyycwfu9bkESIIJPXadBrtU8NS1wmrWvsLxdbs6kG3fTvt7/I8xeES8qhtVDLcHmVMj1FcxNxfedhpSXcKLPZtbV0XULsFkqjPASe8JCaag942h8tdKs1qa+J2fW33/AHkq0Sg/gV10v9v1gTY7BDDPhjlvXbD3ES2lpZKMxtt3t08lBtyTrOY6DmrTTaZZFqSTRevdq7q3rgOHU4e1iUwrXBdOfPdW0VfuskFJuqD4p5xS2JuUcP8A+Idq4bCgZC63HvaMe7FoHQEqA2vPlV9OjdXfTGbFFWs00l1zi+5VwnbxLGGXEX7TIbmJyXgTmdVay1224Cr4pQIMoAgselLVk5tLklhE0aap3e7bu376FjtP2jIs4YX7Ud/L3Ft3pFuxKqbjOFh/bSVGmrQTlmqbO+C+65nqYrKWhQAUAFABQAUAFAGl23mEU0JuLuhJwUlZiXiOCRLqtAK3syOG1BIUsCOh0PxrQq9RrfYq/wAemuW/U5t7hev1/wB60aURqZ0h2A/ZuD/IT+UVgqfMy+Ow+JpBgJoAMw60AZmgBdx6O7CsYVrltWPKC4mfI7e+rKXzCz2PR1aKFABQBpdtBhDAEdDTRk4u6FlCM1aSuQHh1qMvdrHKANPQ9as/yKt76mVf41HTp0r0FNniXcu1pmzKhO+6LAIP8Qg/L3Vslw/bQVSKs39X+DBDiuwm6UndL1S38177h2zZkJQjUeE8qwJaZWkjpt6oXg/A8J23xvEba2lwQU5WDXEAJZUtQxliwzIwgQAGMkDnV8oKTuufvy8DPTm4rTKyty979b/Qu4LAYK4n6abpvzcW63du3ctiFCoHFkMRnELAMwQOYqunTlUloiW1qsaUHORthOBYZrK2LsgDvLagOYyXQAyEgbkeHXUwa0V6csaFhL3+zLw9ZZ1vLfl75d9ibCcA4ct0mwiK9phc7u0cqZ7S3EzZF8JMXGVo/hB2FY7s3YF+C7K4K/aVnw5K5WtpbveLulLMYthvYEnQjYZQNAKqnOSdkOoqw/wt+2MttXBKiACZYhdCT123qpp7jFqoJFeJ4myXipQm0qqSVBLAsWgwN10j1irI07xutxXKzK2O4jibQDm0MjgkAgygBEB2GmZgduR61YqUXzF1Meis5YFABQAUAK+0hIs5xvbZXE7GDEHpoTVlL5rCy2ObJH/GH+1brlB0R2A/ZuD/ACE/lrBU+Zl8dg4zhyzXvCxDW7Y0B1+0Mge6ng7JESW5WxWHuRfVlZsqW0UwTnUOSDoNTB1HlTJrDXeQ08m2Kw8i8bVtltkWwFyFZcPJYJAO0CY5VCe13nINb2N8cLhxBvi2xWyyoN9V1DwsS05tx+GiNtOm+4O97j+/ZV1KuAyncHaqE2ndDlHBYu7YuWsPlFxHJyPPiVQCSGHONIPStMZKSuVtWPSUEiXj+GvM9p7BINsO0ZoVjCxbfyYZhMGDB5ayiGefwNnHB7XhupNq1bcnI2QDuMxkyM8d9J8W3pLYINv0jG23uHKR31xVXNlPiuG6srtItxacjoH1NGAJblvG3bjoysLZJIYpaP3b/hBK7ZhZ3B9o6nWGjNxzF2EnTjPEkn4iu5xTFWrmVGdmIbvUXuzkIe0BlME5irP7UkkGNgavX/dh7/6+m5nlbh1dbfXn9didsfiHsZ7zanKjW3W2N7SSY9rOb0roSNdudJoqU8pNe+4s7SjVxdPx/o2HBUw7i3hrYICs6W5VUR8wi5AEE76mToK1UqkZU25fDmzaW6tlf6MNalJVUo3m7XSbSSaeHt97sv8AD7eZxm1KwXO32gEnTfc+Ww3AqutLTB22e3hy95LaEdU1q3W//wCrZ+vh5orjgV7uls57Zt2vZBUzcAuKwW4eQKjKYnMTJ08NYrnQseX4XwxMULo8SOl24sXbZBAFs2x3YzSbKuVZf8A2I0WctJKVxm/Zq5Dfagk5pkHUNczxJnl4diPI7UnaLoNpHPCMKbNhLbsCUEFuUSeu2lVyd3dDLCDhN0XcSblvW2trIXgwzFwQFPMAA6+Yq6CcY5EbuxxjcOLlt0IkMpHxFMiBRwe/nsoTvEN/iXQg+cis81aTLIu6LlKSFABQAs7RfqQOTXLan0Linp7iy2Oa8/8AiroWM50R2A/ZuD/IT+UVz6nzM0R2H9IMFABQAUAFACw4oW8S1y4twgIFtZELA5tWmPvSB7hV9O2krluOMFxa1dOVHGYCSpBDAaalTrzFPYi5NisWlsZnYKNJJ5SQJPQSRJ2FAM8pY7XXIgorEKWDF1XMNw4BP6uCBm2nmKbSRclHa4k+xbiAQS50JYKWYRKoASSxEQNCZqLBc2ftVcCM/dJlDBM2fwz4/HmaALZCjKZ1zj3lguekwdzOivlyl1DEaSJEwSN4qCSLiHD1uA/dY/eHlyPUVdRrypvquhRX4eNVdH1/fUVW7VyxcEm34toB1EqGGp6QRvrWxyhXg0r4/tv6YIwqcPUV2s/y/wDC1gpa8xBjKzSDOoMe4DpESOtU1bRpJeHv9l9G8qzfRv097W5DesR0BD2hAW7h7pJAUurEGNChInqJXah5i0RzMcN4it6YDKywSrbgMJU6aEEa1RODiOnc14vqqW5gXnFtm6KZkepjL76akshLYfogAAAgAQB0Aq0U2oA89w/9ZiCvsG6Yn8QAD6dM1V1eRMS/VQ4UAFACrjqibJOv2m3/AENB9xE1ZT5iy5HNX+at5nOi+wH7Nwf5Cfy1z6nzM0R2H9IMFABQAUAFAGtxoBPQE/ChARdnsMO7F94Ny8AzMREAgQi9FGnrWpq2EVd5Le4NYuYpMUQTetIbYhzAViSQUmJ1O/8AQUXxYLDKBMaTHy/2qCQyjoOnu6UAZyjaNKAM0AaXrmVWaCcoJgbmBsPOmjHVJIWctMXLewhOON11YqEVTCk+IEsJkkaRtpvBnQV0exVKLindvfl75nK/yHWmpNWS2e+/tY357DHhWCa3mnKJiAmi6dAdR6Say8RVVS1r+e5s4WhKkmnby29OXqxhWY1i7juCN20VWMykMs7Eg6ieUiR76lEMT9w1g4VrgAJTubhkQCNUk+4j31E1dMI4ZtxW+LgFm0Q91mBEGcmVgc7RsARVdOLvdjSeLHphVhBmgBDhRlvYhOWcP/nUEj5fOq6q2ZMS5VQ4UAU+I4xkyKihmckCTA0BOpg9KaMU9yGyizNfZCUdFtAscwIPeEEBR1AE67ainxFb7i7nN8+ZreUHRfYD9m4P8hP5RXOqfMzRHYf0gwUAFABQAUAYYToedACm3h7j27uDUxkyNbcHVVLghfED4lCmJnYVqi7q5U1yIU7OX1Mo4VlVEVw7AuBduM9y4o0Lsj6zMtJEU10RYj4hhbyZsTiX7u1aWbmW45YW1FgvBQTr3dwwOo5mgCTsqt+41nEC5nsPb0Od/EpVcpKN96QZMA67nkMEOOP427b7oWQCzswPhzGFRm0BuINwNZpUSxbhe2SvkC2i5uKhUq3hYs1pWhmAACm4PPQyAYBnSRc1vdr4tschzZAUJiHZsmgUEzq4EAltDpqCZjByaSIlNRTbKPBceL9osxVFi3cC94QftFFwplMjflvsJrpRk9Vkm+V9Pda5yZQWi7aSve2rvvboev4c8pB3U5dd+onzgisFeNp365Olw8rws+WPfkWqpLzBNSRexSLLfNy2yhrYABkaFjMgemmo5mrZ09EU3u/sU06vaTklsrZ78/bBNgsDbtKFtoFAEaDUx1O5PmaqbuXWLFQSFACLito2ryXVJi84t3FPs+ycrg8joB51EknEFhlus5YFAC3Hrnv2UmAua6evhgAT0ljPpTxxFvyFe6L972W9D9KRDHLGbz+VdQynRfYD9m4P8hP5RXOqfMzRHYf0gwUAFABQAUAFACW7jmw/6Y9tA7ZrMIfvF4T2h8h1HnWmGYoqluS4ftaGe7FsuiDMhUiWtqsu5zEDRtABqfjDaSLli32lV4UWXPeFltg5PHlZ1Y6t4RCEw0SI56UWJuQYHtWjZB3bBXdFWI8KutrLmAOmtyNNPD7qLEXH+Kwlu4ALiK4BkBlBAPUTUEmi8OtBs4tW85jxZFnSI1ieQ+AouAk4v2WF7FWrpa2LFtGW5Z7pftD90l9wF6eXnVlOrKHy8yqrShP5uXkScAwloF0XKRGRYAjKpYQI3gR8q18S5JKSVub8cGHhIwk5RbvyXhd/wtWyyH+JQA675lHNTO/tR8D5ElGpHu5dz9/waLnTferXXVdV9bejN8RdF05QZTKCYO+adGjUQOXn5UlKHZq7Wb+7D1Zqq9Kfw29b9SN7XszLxCgQNB1Pp1q2L3tjmVyjtfPIqjillHZVuIr2/aQkCQBMRygSZ/pSzSatP/Q0G070+WLdfebPqOxi008QEjNqYManY+h+B6VhlFxdmb4yUldEwpRjNAFTiuFW5adGEgqfcQJB9QdalYIYu4XdLWbbHcopPrFZ5q0mWLYtUpIuxfhxFlt84a3HMbPm9PCZ91PHMWhXuXr3st6H6UiGOWM38XyrqGU6L7Afs3B/kJ/LXOqfMzRHYf0gxFir2RC0Tl1PpVlGn2k1C9rlVap2cHO2xKDVZaFABQAUAULNhRiwAoi6hdwdi1tkyvH4gT9KvptuJXLcaPwmwQAbNsgRAyCBExGnKT8TT3INOIcHtXUyEBdZlQv4s2zKQRm12313ouFhVwLs+yG4MSmHe2jj9Fyp4ltqFC5yRq4yrr5e4S30Cw4xuNKsLaCbjREjwgayxPlG3oOdXUqSa1yfwr18PMz1q7jJU4K8n6W6+X6XMu1nNJHiLQdWU7MCDHQ00JOMlJchKkFOLi+Ym7Q3Da7tlUakLPQggr8gw99b+CSqKUW+/wDf4Odx8uycJJc7ee6/Iwx6iFce1IHqCdj9fdWag3dx5GviErKXPH1Fb33a6UUQEIMj73hkofX+lbdMYw1N7/vcwOc5VdEVhZ8cbFzC3SyyRH+3Wq5xSdkXU5OUbtHnMbwe41u9ZDWwrXHbMwOci+fZjbRifEDMLEc6VxbljZ/dIZSUVndP1Tfv0KXaPhlqwty5fu20w8tkDKxW33i3kgKoMktdDba5TVdSDtqRdTmk9L8vf1LeH4Vd8dxQty3mA7tZhwrKQIgHIBK65jK6CDlqmcXG1+auWwmp3tydvQnwnZm+1pA7KjFVzHM2cDuwpw8j7gPjmZn40lx7El/gtxL9sImZO8VlaSFtILzuyjXmpCkaTAAnYCYWLvAxFrJzts6EdMrGPlFZ6vzFkdhhSDC/jds933imHszcXSZgGVPkRT03m3UWRbLyk9Vn4il5knLWbzFdMzHRfYD9m4P8hP5RXOqfMzRHYf0gxrdQMpU7EEH300JOElJcsiTgpxcXzVilbvPbADoSqiMykHQcyDtpWuVKlWlenKzfJ48kzHCrVoxtUjdL/wCSz5tf7LytIBGx1rG007M3Jpq6AmoSvhA3bLNMPeDqGEwdROhjrFPUpunJxfISlUVSCmtn1KXFD3bW8QNrJOcdUeAfhoY8qak82Jn1PRIwIBGoOoNWEFTH4ko1qNmeD5jKxgepA+XWr6NNSUr8l+UZq9VwlC3N59Ga8HYtbDkybhL77AnRfKBAjyqeJSVTSuWPfiHCNyp65bu79dl5LBrh/wDzFzNvlGX/AAjcfE1M/wD+MbdXfxFp/wDuJ36K3h/sttfUBmzCFnMekbz51SoSbStvsaHUik5XwtyHGYkqLZGzuqnTWGB5b9PTXpT06alqT5JldWq46WubS9ffluUeKXFulU318M832kdQupMVp4eMqSc37X9MvEyjWah3/X+ZZc4gQAg/in3KCZ+nxqjh1dt+8mjiHZJd/wBhXwa7rmcBRmdvKPCJPvrXxUfh0xzt+TDwcs6pYzJ/YuYceEaRzjoCZilluXQ+UkI+VQNYp8YwouWmUgHnB2MA+R+lPTaUlcqrxbg7bjbBIoRQmXLGmX2fd5VgquTm9V79+5voqKgtNrd2xPVZaFAHmVx1u3dxWZhlV1YkawXUCNOeYbUlSLbViYu1xjZuqwDKQwOxBkVS1bcYUcSxd5zctWUUgEIzZtQHGvhMbDz3q2MYqzYrbeEM1tZLeWZypEnyETVd7u4xy5PmK6ZmOhOwzP8A2ZhIA/UW4jfYcorI1Tc8sZuoo4S9+R6HDsxBzddNIqqqoprSPScmnqJarLShi8T4svImPVtPCTyGupHnXR4bh0o9rLln+/TBzeJ4hufZLZ488Y8M5LllMqgdKw1J65uXU304aIKPQr8RuDu7g8oMbjNp/Wav4SEu2g++/oZ+MnHsZrus7d+CHhY8TnRgY8Q6gDwqZ1XpoPfNW8ZZQgtnnHdfd9/X8FPBZnOSysZ77bLu6fm5Fxm8r2WIg926kqdmyMCUI6Go4WnKFVJr5k/qhuKqRnSbi/lkvWLTsenUVWakK+NMGsh1AbIwYGYKw0EjbUVr4VONXRLF164MPGOMqOuObNNPpndFnhNvLZTqRmPq3iPzNVcRK9R+npgv4WOmlHvz65KF+5cRnYeN1BVdOqgrIHnoT9K0wjCcEtlu/WzMlSVSE5SWWrpel1+g4bghcUB5NtPCqkRnP3rjjnLSBy3Os1Faq6b+H5nu+nRLyDh6CqRtPMVhLr1k/O9uXPmacWxJN9La/dnxbQSN5g8p5dabh6aVKU5c/sLxVWTrxpx5c+jt+hVZBU94Wg8j+FNvDJicpBgwZM7aHZK0loS/r7+6/wBDBC8X2jefstscr2ez5523fWpaHYySOmgB1gA/MnesVlH4YnTTc/il/oBh1kGPZ0A5ddutTrZHZxuiWlHCgDFAEvC4CZREIxWByEyB8CKz8TfXd87F3C2VPSuTaLc1QaRV2p4q2Gwt29btPduKv2dtFZiznQCFE5Z1J6A1KVyGeY4befFsGNo2hc7u/cS4rK6svhZApAPtKTJ5EHnUTajnyCORlj8PctOHwy/rWyusHICdrhA2jn1quLUlaQzTWxPwrCvbswyr3pJLFeZJOsncxReMpq+xElJQdtyabmVpjb72nLcQKefZXVvp/WVQ7bn9cfZHL+v8Fashg6N7Afs3B/kJ/KKwVPmZfHYf0gxC90k5UgnmeS+vU+VaqPD6vinhff31M1Wvb4YZf299Clj8KORYZADM7sWkE9dcxjzFdDtFFqNlnHlbl9Ec6dK6ck38Kv4u91frzdti3hsVmJUiCADvuGEzXMrUNC1J3V2vRnSo8R2j0tWdk/VC3EqxZmVZXNmYTvlBA1/DImNfrXRp6FCMZO0rWXm/vZ2ObV1ucpRjeOq7Xgrel1cYYaEQknQEyf8ADp/SsfFKVStpXdbzybuGcadFyk+t/LH4FParCqVS4IBDiW8iDBb3wJ5TWj/jq0oz0N46ff35mb/kqEZQ1xWev29+Q+XiTNbYhYYQBJESTlnTo3Lnp1qXw6jNJvHt/YdcVKVNtKz9r6MoKJsKhOsO1wA6TJ1nnzIHM61p/wDuckuiRk3oKDfVyt4/78dyxaJRyLJBGUJ4laF7vSJ0BG+3OqnHXH/s3u3i2bl0W4TfZPFksp404995YVTJZjLHfpAmAPjUYSstizLep7kWGRrZJHj8IVZMZQJ5Aa76n5VNRRmrbZu+8SlqptvfCS5Wt5er+hDfw0ZmLKWaIzDwz8ZjlE1ZCW0UnZdNyqdPeTau+u1/fK5WF9fw53Y5tRoDowy6SRMHrVul9bL2slWuPS73zsueMbDHCjwyRBbVh59fKqJ72NVP5b2s3uTUg4UAV8fh+8tvbzFc6lZG4BEGPOKGSKBwK4vs3yFAgDxCRmk54aSxG7TJPSo0hcocB4bcbvLa4i4C83A2oHiyA6KwnrqPvnXTRuLouCUm78u/mVcDxMZtxStzxty7/wCedxu3Zy/nDfpTAjLr45IVywB8cbHKQIBgE1hudGxZ4fwu9bxEm47WlBjNcYkkiMsE6jcknWYjoC5Nja9rjHn7tlI/6mefoKqq/Kho7lqqRwoA0vey3ofpQgOWI8hXUMp0P2CDnhuD2Udwmu5PhHLQD51WuHg3qlkSVae0cfUf/o4O5Y++B8BpV0YQjtFFLcpbyfvwJVUAQBA8qdu4JJYRUxuHkMdTzKiNYHKefv5U0Lak+fUqqxehrdb2xkqtgnd85CyoULOkkEn1AII0ogowg6abs7/VL7CzjKpUVRpXSX0b+jusGTZLOUg7gsw8iW085IA32mhR06ZdE7edkDvJyg+bV/K7/NvqGOsudBIQMSehBjcjXQljt06VEIxU3O13ZeN1+8e2FXW4qCdld+Fn+m37RDxXGIlkC9cRUvfZqHBzMzaBEC+0x5QOXwq7GnGevK9+8F3aVZw0q1u/f6ety5gcGwtoLhOZQAdfwkka/XrFXXUcLPeJpcrOWNrpepctWlUQoAG0Dy0qHJt3Y8YRirJGtx1tqSYAAJj01MChJyZEpRpxu8Ihu44BsuVj5j/p/wDkKdU7q9/ef0VyrKMrWfu37Iu9a6gYKYkyAdxGhmRoDv6U1lCVriapVIJpe/oFrAEnNcaZEED/AAkHU+p+VDqpK0UEaDbvN+7W/Jaw+GCTHMz6eQ8gKrlNy3LoU1C9iakHCgAoAKACgCgyD7IIcrm6VlSASmsz5ZVAnyFPd/E5K6038/b+5S0vgUXZ6rY6Z38kvRD+uadUKAPN8btsb7BJDNZWIMezd11kciedRK1k2CIEw98Llk6xBz7QXMHWZIKjnt5Ul4k2ZG2BxAgBzzB8Z2ZUE6k6jxH19anVALMsYe1eDMXMqUyxmmCqjWPM5vlStxtglXOao8hXQM50b2B/ZuD/ACLf8op1sUS3JeINjBcY2lVrekAlQdABz6lid9O7/iqHe5K02Mu+MKXPDbDgju8pHiAIJnNIEgEa7Zh0qckKxFbuY4AyiMczEarsSSo0YaAeE6SIB8WtR8QYJ1fFlXlUDApkIjUTLGCdo0gwfrRkMEC3sdMd2gkbkqQpgaABgTqD8RUfET8JawoxTTnKJqI8M6Aa5YbmdJY8hprTZIwYxGFCFHIN1wZLOJYdMgAyprHsgaVZTgpXuU1ako2svH342JLOJuwJSTAmAdzG06c/dFWShC+GUwqVbK68ffuwLhrpklyCZG4iCX6DzX4UOcFsveP6Cp1Xe795/aJmwQIXMSYEHzjn1Hupe0tsWOimlqZY7oTMCetV3drFulXvY3qCQoAKACgAoAKAEeM4gRfZWvd3lNvu7YQMboc6nUZjrK+EjLGY6UreR7YKSdqmIWEQlioOVyQmcEnP4ZHdwA23trtUag0ohLXb19U73uWwt1bl02oPeqvhYP8AhnfKdYnQ70z1TWm4iUKb1299T13HMabdvwfrLhCW9J8RBM+gAJ16ViRuYqtYa7ZfvUJvM0i6GYLm2ykD2RERGm9Iqie5LjbYjuY5mu2ndQjo5suoadLiB1IMCdQPiaaSvHBCwxxWYtCgDS97Leh+lCA5Yy/w/OuoZTo3sD+zcH+Rb/lFOtiiW4/qRQoAKACgCnh+IK3VdA2sbNoNidfI1bKk4lEOIjLu5+vgWFvqYhhrEa9dvjB+FI4tci1Ti9ma3MSikgsAQJI8gJ+mtSoSeUiHUhF2bNHxgCo0E5/ZGk6gnUkxsOtSqbu10FdZKKlbfbbxNrWLRgusZhIB3j/gPwqHTkr9xMasJJZ3MDG24nOsTEz5T9Nans53tYO2p2vdGXxiAHxDRc3uAn6R8ahU5Pl3A6sFfPK5MKUsM1ABQAUAFABQB5DE8bvW793xyitcGTwkhVtBlYqLcqub75YgyBGshNTTLNKsbWe1FwW0zFC2W6Xze0e7Z1Urk8MtAOUA6EmYGpqI0lvgfErt9QjQfDdDOYlirZFICeEAg5tzpETM00JZQlSN4tdRpxu/KWbkHJbug3eq+EjXyBImORmstSDi2jVSqKST9e4uViNJAcFb7zvcozxGbnH/ADnU6naxFle5PUEhQBpe9lvQ/ShAcsZfL511DKdG9gf2bg/yLf8AKKdbFEtx/UimGYDUmB51O4NpbgrA7EH0otYE09jW6mZSJiQRI86E7O5EldNFNeGgfeM6TAUAhQYEAec+oFXds+n3KFwyXPpyXK/7NsLgcrTyVQq+4HxHTfUj09aidXUrdXcKdDTK/RJLy5+OTa5gQS0sYaTGmhZcpPU6fWoVS1se9xnRTvnf8qxtisLnKmYyzyB39RvUQnpuNUpa2s7eH5Ihwtep2AG0iFygyR0+dN28vfjcr/xo9fdrGuKwBPsGJBBPQFVWAI6CphVS+b3zIqUG/ldvxhLGO42bhqySWOsiNNmI0+UelR2ztZIl8PG92/bt+rF6apNAUAFABQAUAFABNABNAGr3QNyB6mpSb2Ickt2Q4hRB5rcUo3QhhAPuJ+BNFr78s/tEN2yueP0/I1wDzbXyABHQjQj41zeJhoqyXffyZt4WeujF91n4rDLFUGgKACgDS97Leh+lCA5YjyNdQynRXYG8v9m4PxD9Rb5j8Ip1sUS3H3fL+JfiKkgjxBRlILD3EctaaMrO4k4alZkWByKshh4oYyw5601SV3boJRgoxuueSz3y/iX4iqy4O+X8S/EUAHfL+JfiKADvl/EvxFAB3y/iX4igA75fxL8RQAd8v4l+IoAr49lKHxjwydx0PPl609OVpFVaN4+BJhyqiM6n3gfKaiUru40IaVYk75fxL8RSjh3y/iX4igA75fxL8RQAd8v4l+IoAO+X8S/EUAHfL+JfiKADvl/EvxFAFbGBDDZxIIGjAbmJ+ZqyErYKatNPPh9/6T50iMyxERI2pL5uW6VaxTsXFtswZ1hjKmfd4j1OnrVPFw7RKUVlbk8K+ybjN4bx/X1+5afFIIll1MDUb1zlBu9uR0JSStfmbd8v4l+IpbDB3y/iX4iiwGt68uVvEux5jpUpEHLcf4q6RmKWI9pvU/WqmOR1AGaABt6CWYoICgAoAKACgAoAKAMPsfSpRKNqggxQAUAFABQAUAFABQBhv9vrUkozUEAdj6GglGW2+H1FWsRBTChQAGoJIKUk/9k=">
            <a:hlinkClick r:id="rId1"/>
          </p:cNvPr>
          <p:cNvSpPr>
            <a:spLocks noChangeAspect="1" noChangeArrowheads="1"/>
          </p:cNvSpPr>
          <p:nvPr/>
        </p:nvSpPr>
        <p:spPr bwMode="auto">
          <a:xfrm>
            <a:off x="53975" y="-1210866"/>
            <a:ext cx="3143250" cy="252888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392" name="AutoShape 8" descr="data:image/jpeg;base64,/9j/4AAQSkZJRgABAQAAAQABAAD/2wCEAAkGBxQTEhUUExQWFhUUGR0YFxgYGBofGhsaGBoaHCAXGRgaHCggHRolHR4bITEhJSkrLi4uGiAzODMtNygtLisBCgoKDg0OGxAQGywkICYuLCwsLCwsLCwsLCwsLCwsNCwsLCwsLCwsLCw0LCwsLCwsLCwsLCwsLCwsLCwsLCwsLP/AABEIAOkA2QMBEQACEQEDEQH/xAAcAAACAgMBAQAAAAAAAAAAAAAABQMEAQIIBgf/xABGEAACAQIEAwUFBAcHAgYDAAABAhEAAwQSITEFQVEGEyJhcTKBkaGxI0JScxQzNVRissEVFnKSk9HwguEHNFNj0vEkJUP/xAAZAQACAwEAAAAAAAAAAAAAAAAAAgEDBAX/xAA2EQACAQMCAwYHAAICAQUBAAAAAQIDESESMQRBURNhcYGR8CIyobHB0eEU8QUjYhU0QkNyM//aAAwDAQACEQMRAD8AedluA4H+zsJdvYa0zPaQs5QEksslmJ+ZrJKU3JpMtSVsjEcC4dp/+Da1OUfZrqRvzqLz6k2j0JsJ2c4dc9nCWOf/APNeRA/qD76hymt2CUWav2a4cHg4Sx+E/ZruYI1j1q5Qqunq8/JGd1qaqafLzZpwnslgnD3DhLMXGlAba+wAAD79T76qnOSxc0KKZLgeznDbubJhLBCMVJ7tdx08qiUpx3YJRZZ/udgP3Ox/pil7SXUnSg/udgP3Ox/pijtJdQ0oP7nYD9zsf6Yo7SXUNKD+52A/c7H+mKO0l1DSihiuwOEZ86WrSeGMvcoVmZkyP+daZVmlZkOCIm7DYfUulhQYEJYQfDMCQTTxqOTtFfUWSUVdkmC7B8P0Y2LbldNVWBp5ASKmtUmpPFhaKi4rN+ow/udgP3Ox/piqe0l1LdKD+52A/c7H+mKO0l1DSisOzfDu87v9Dsz17sZZAByz1ykH0NTrna9wtEs/3OwH7nY/0xUdpLqGlC3EcI4YjOpwdqbftRaXbLnJGskBZJPlAk6U6dRq9yPhGX9zsB+52P8ATFJ2kupOlFHEcD4YhYHB2vCYb7EQBAOaTuoBEkTTJzfMi0SMcG4ZKlsLYQNKw1tQcwAaP8pzek7Qae89NuYtlqvyLWD7N8Nuzkwtg5d/s46jmOoI9xqtzmt2OlFk57IcP/dMP/kWhTm8ZIaislZuz3DAY/RrBPRbcn5A1eqHENXtbxsvuZ3xPDp2vd9139rmB2bwB1GAtEde7HzET9ad0ZKylUSfT3gVcRfMYNrr7yYPZLBuYGDsAfliPeSAfcPeadaKKvOWp9Pf59BG6lV2gtK6+7ei82Tf3KwCqYwlk6blF5D0rJOvKTvt4GuFJQVsvxyc5/o6/h+dbbFR987FcVReHYVHRs4s2wikCXzACU5R16Csc4NybRepYHgxndmbuHKA7MkPr0OUSCfSPOk032ZN7boj7+6zDusMF0kNcgaaARlkgxrB5CpsluyM8kQ4jF5ke06RiWlAqg+ImYuA/g5np61YpSWz+ERwg8tZHBssLWRCAwTKp5AgQDWe61XZbyEFjC3LT2UDW1uMAsqW1OUwtxJhgYIDgAyK03U0yuziOsFjGZmt3FyXUgkDVSDMMh5jSqJw05Q6dzXGcTCPlyMwUBrjKJyA6AkbkaHbaiNNyVwcrFy1dDKGUgqRII2IpGrDG9ABQBpdthhB2poTcHqQk4KcdMtgtWgu3/P+1E5ynuEIRhsb0o4UAKMQWGJ+zFoubcnO7A7xIAB5BZMDYank6+XIvMsZ8T+Cx/nf/wCFR8JOSjiOHXXbM1uwZnMC93XbY5fCOoA8Wk0ykkrEWJsXj76RK2MxBKjvHE5d9SkADqahRTBtkL2bl4BwmHYZgSc9zxZZGU+EfAztqKm+nGQtc1v4RlQZrWHyqZEvcJkxsckzoB6abU9OMqkrRvcSpONOOqWxWaxiYZyLFm3GZvG48ILMcxK6asxk9dq19pRou0Vql15e13epi7OtXzJ6Yu2Ofn49/oXcJdSWF1rauGCjK8g5gCN1EGZERHhqt8XW5Fv+HRGysq6SJHnrqefPc/Osk5ym7s1QhGCsiWkHCgDS97Leh+lCA5YjyNdQynRXYFQeG4LQGLCR5eHlXOqfMzRHY9BSDBQBiKAKWL4iASlsNcux7KLmgnbMdl95p4028iuSRb4VwdEVGdA16AWdvE2aNYY7a9Kvb6CJFbinBLt2/wB6LwXIpFoBRIJGuYndSanFrBm4txfDsW2W7kQXR7OQgFIOgYkw6MJkcqiKUcIG2yx2ew5tC7bPtJc1APhGZVYBeg1j3VVW3TGhsNqqHF17jNtb4sk+I89MoMEgEzvp8x1p1TbjqF1K9hjSDBQBTx3EktgyQWH3Z1/7Vq4fg6tZqyx1MfEcbSoJ3eVy5lb+3FC5nRxrAgSD5htBV/8A6bOU9MJJ+OH6bmf/ANUhGGqcWvBXXrsa2cVYa73guEGJytosxlLQRJaBG8RVc+C4iCtp9M95dD/kOGm8St447uZYxHFkWN2LHSPrrFTT/wCPrTvfFuv8Iq/8jRhZK7v0/tjFviysTlR2ymCQNJ+NEuAnBLXKKv3kQ/5GE29EZO3O39IcfbsX0Du3hUHYgGDHOMw2HskT5iq/8etCp2aWS5cVRnT7TVgkw18KMlsPdaSSxgeJiSSzQB7gKZ8M1mq1FfXySF/yk8Uk5P0Xm3+CVcKzFTcb2SGCjaRtP/Pf1JV6cE40o74u97ER4epNqVWW2bLa/f78+tq/aDqynZgQfQiKxp2dzYLn4GhbNmfnp4YhjLL7OzHU8+hFP2jI0mzcEtFy+uYnMTpyZm6bSx+AoVRrAaUMqQYKANL3st6H6UIDliP8VdQynQvYa6w4ZhPDtYSDM8hyGtY3CLna47qSUb2H2GvFpkRH/f8A+/fS1acYW0u5NKpKd9SsT1SXGtxwoJOwEn0FCyBH2XsMtoswjvXNwSZbK8EZj1+gitT6FSGOLxtu0AbtxEBMAuwUEwTAk6mAT7jQSSowIBBBB1BGxHUGoA2oAWcU4RnPeWzkvCIbWCB911B8QjSp3wyPAXDiF1dLmGvCBqVAYSN4gzl5yaqdLoxtZBwThy3xiLrQbV8kIGGoyypeSPDPx0q5XSS5idWacP4yAjJdP2to5CObEDcevWrP8Gc9MorD3fTJmlx9OnqjJ5Wy64uZt3MTcWTFuCS0KZgDYSdT8K0ShwVGWPjbtbOPHu+pkjPjq0bytC174zbosu/0I7GFse0yMx3MmeQ1OvORoaepW4r5YySXd5/a3L7iU+H4T55xbfe79Pvfn9i/cxylSChKkbaajLJ0nSNaxR4aakmpJPzw7+BvnxMJQalFtdMZVrvn4i69hbBMRcmdfENwcuUkz1BrfCvxMY3Tja3R7b3SRz6nD8LKVmpXv15rFm3fxLmHv27ajImvOYnTX47x76y1aVWrJupL726fq5qpVKVKKVOP2v1/dvNmLeBtXGeUiIkKxCkydwIEyPnUz4mvRhG0r36pXW3PPUiPC8PWnK8LW6N2eXyx08y6MBakNkWRtpoPQbVkfF1nHTqdvH87mxcHQUlJQV13fjYsgVnNAUEhQAUAFABQBFiHIGgkzGxP0+tWUoxk7SK6spRXw+/fUhN5yjEprB5xy8/+aU86cFKykVwqVHG7icva+fxP+1bMkYOjewH7Nwf5CfyiufU+Zl8dh/SDBQBV4nhu8s3EG7KQPXl86aDtJMhq6NbHHGUJ3thrdvRWckeExE5Rsk6T6aVoum7JleUXOK8N75rDByotOzkqYYhrTp4SPNgfdQmDPN4bsjfBtg3ECKttGCM6hltmwYyhdB9m4jNB7w6CTLakRYi4jwXEr9nbVmIDlXDMMqm3eC2l1iMzJ0MjoAQXQEnFrTYRM92/asW71xbYBe6QrFrZCp4ZJbI5OgAzHzkWQPV8Hwfc2LdsmWVAGaSczQMzSddTJ160rJRvxB8lq4QB4VY+WxqyjHVUiu9FXES00pS6JniuzeFViGygsHJcn7oUEKo9SZ91b+OrVIa9TaTVkuvV++pyeAoUpaNKUmvik+mMLx/R6thIg864SbTujvtJqzI1w6ARlHv1+M1Y60273K1RppWsjcWx0HwpHKT5jqMVsjDWlO4HwqVUktmQ4Re6NopbsaxmgkKAME0AGYdRrtQBhXB2IPoaLAZzDeRrQBmgAoAKANL3st6H6UIDlifM11DKdF9gP2bg/wAhP5a51T5maI7D+kGCgAoAwygiCJB3BoApcLvCxdNliVtvHcyZUEDxIDuNdgfdWiL1Irasx8zgbkCetSBtQBFiMMlwAOiuAQwDAESNQYPMHnUkEtQSLuOP9nlic5A+cyfLStXCL/s1dDHxr/69PVpC3A4ZbV+9bTRALbR/EQZ+IANZeJqSqNSluaaFKNKOmKwMazF4UAFABQAUAFABQAu4jbJu2CASAXkxtKECnjsxXuhTw3C3E/R1Ktkyl+fgYoQyHprqPUirZNO4qTwZ4dY/UZLbKyW2705CsysZSSBmObXntUSe934AuRpfw125asW1Q/Z2s8kxDxC7jUjUx5ipTSbfeFnZI9HhLpdFYgqSASDuDzHxqiSs7DomqCQoA0vey3ofpQgOWM3mfhXUMp907CJfuYHDG3dyotlFWQNSAJkRqBtNNKXC0opVIXby88uX7MOji6tSTp1NMVhYW/P9HpreNK3FtXNWbVXUQD5EToazS4eM6TrUtlunuv2jTHiZU6qoVst7NKyfdbNmMKxG8KACgCPEYdXXK6hh0IkaVKbWUQ1cWYjgNrK0KWgHIjO2VSR90TprTqrIXShrwLiKXLVsd4C4AVgxhswGoIOs1e0KmNKUkKAFXEmLXrKfdnM3qASPjB+flWygkqU589kYeIblWpw5bv62+z+pUwLTcvsd2ulY5wigAf199c+ryN8S9VQ4UAFABQAUAFABQAUAFABQAUAFABQAUAaXvZb0P0oQHLGb+L5V1DKdF/8Ah+P/ANbg/wAhPpXOq/OzRFWQ7u2VaMwmDI6g9QRRCpKHysidOM7altldxUsDJeKAtBTN4iTrmiddq01H2nD62liVsJLFjJTSp8Q6abzG+W3m/fsX6xm4KAF7Yi8blxbdtGFvLILEMc4mRpGkHQ1bGmmr3Ecsm9z9KUa2UeR9y5sfPMBI9Knsl1DUyLCcOuXMSr37SoLQkFSCGedDPtQByPWnSUVhit3PSUEhQB5njOI7zELaX20KkbySCG9AInX19/V4aGig5y2d/wBHF4yp2nEKlH5lb8P7fka4ngeHuMzPbBZtzrPLUa6HQajpXLuzs2KrcMvp+quh15LdBkeQddSPUGlcIsm7RE+KuppdsN5Nam4D7gAw+FI6XRk6uoHGXY/8rd6/c2/zb+VHZd4agHETzsXxO3gmfgdPfUdkydSNlu329jDwOt1wnwADH40ypdWRqMM+JXV7Csp5WnzMPXMFkHy2o7JcmGojucWgfqb5I3HdsIHMknTTyNL2TJ1IE4mzk91ZuXAPvQFU+hcialUnzZGomzYn93X33l+GinX5edT2S6hq7jXD8SUtkdWtuPuuImDHhbZh5jrSSptZJUky7SDBQAUAFAEeIaEYnYKfpUxTbSRDaSuzlfvR1+Rro6kZ9LOjewH7Nwf5CfyisFT5mXx2H9IMQ4myp1JgrqGmCOuvTqNqtpVJxemOb8uvvlzKa1OElqli2b9P515dTTDYgm3nYdTtuoJgx5iDFTXpqFTTHu9ea8mRw9SU6alLv9L4fmslaxxpDq4NtSudGeIZBuRB38t6V0mi1SRe7PWDka64Ie8cxB3CjRF/y6+pNXWsrCd42qCQoAKAKfE8S1tQVy7wc3odhIk1fQpxnKzv5GfiasqcU428xNwe7mxVwlSDLemkCZ6+XnW7iY6eHik+hzuEnq4qTazk9LXKOyKcF2kw13uclyf0i2blskEAqGVdSfZOZgADqTI5VOlkXLVzi1hTBvWgehuLO8bT1oswuZu8UsrOa9bGUw0uogwTBk6GAdPI9KLBcxc4pZBjvUkGD4l8PhLS2uggEyelFmFw/tWxCnvrcNIXxr4iNCF11M6aUWC5EvErd6wblm4GBUQVIJBYCAQNm1Gh61ZSjeaTKq0mqba3/JP+hgQUJRviD5ETr67+dT2reJZRHYJZhh/TzRrYxOUlbrrmnSdJB2gfL3VM6epKUE7etmRCrpbjUavfHK694LTOAJJAHU7VSk27IvckldinjGJssoFzJkJjO4BX/pnc+Y0GtXRhpzL05+fQpdRzxD15eXX7C/CqcO6pmL2bsd04MhTHsbkwYkHWqqtOM05R3W6/I0JyjJRnz2f4Y0ZwIkgSYHr0rKot7Ivckt2bVAwUAVsfquX8Uz6AEke8ae+raOLz6ffZem5TWzaHX7bv12OXv8vwrbpQmpnRfYD9m4P8hP5RWCp8zL47D+kGNbiBgVOoIII8jUxk4yUluhZxU4uMtngVXLzlbdhG+1clC3NVSZuesRHmwrVUgnUcrYeV5mehJ9mot3aw/LH13HlvhVoW0tlFZU9nMA23PXnNRdlti7UEhQAUAFAFbiK+AnXw+KRvp0901bRfxpdcFNdfA30yeexWLNh1uwxLDxADTQhcz6TJUrr1rpwpKtF09rbfeyz4+RyKtZ8PNVcu+/Tpd4vlWz1PTWrgdQw2YAj3iuTKLjJp8jtQkpxUlzPNDsctu24tOxfJkt5iAFOVYIIUkRcBubHxMfKC5Nitxfg4siyiWr17vrnduyZfsw+H7k3WzA6AeL1J9CJgMcJ2Tto4bOxyszKDBjMt0ESZ53GOkbDzJLk2IX7GWypU3Xy5SoACje21ssREFoY6wOUzRqCwcR7Nu1xjaYBbzo13MdQEdGhFyfwnWRqddhBciwwTha2bTZWOlu2smBHciAdBv/XlT0n8aK66/wCtljifFVsBMysTcMKq5ZJALES7KJgbTJ5A1XYtuV+Icew9tA7mZD6ASwyKzOCp1EZSCDsYBqVdENJ7oBxDCCGD2+cCeY/h5H3ak+dO6k2rXEVKmndIrcSxSXhhGt6i4wury+z7skkg9QwEHrVUsJ3LFugt8IsqxYW1mZ11AJ3yg6CfKqlWmtnYmVKEvmSfiTnBpM5R6cvWNp86ZcRUSsn+/UR8PSbu4/r02v3kVm1cBIzDLJIYkk+SwfLzP9KsnOjJarZ6beftL8iQhWi3G+M538Fb+v8ABKuIhSW0Ke1/uPKq3SbklDN9vfUsVVKLc8W3/fgRsc+Zh7KghehJGp8xy+NS12cdPN79y6fn0Ii+0nqWy2731/Hqcwf5a2iHRfYD9m4P8hP5RXOqfMzRHYf0gwUAK+M4cjJeRTntOGOXcrswjnpWrh6jadN7Pbuf4MtamlJVF5967+tvUbYLjVi7lCXAWaYU6NoJ1U6irOxnZys7IO3p6lHUrvYscQvm3auOIlEZhO3hUnXyqtFp5W52ru21bvFXMpRv1bKe7KhnOTO2xMBpA6xuW0kXLV3tUwyqLcszBVJ0Vj3uUqNYzZZPtTziKixNyDH9r3XNktrKJdBBlvtrS3GyZwQMpFsnWDBBiDILEXHHD+K97cu2mTKbajMJnUs40YbiADsN6FdZQOzWRVjLYKAHL4WABjSGBBBUGSNAdh1rr05Wk2r5X2OHWipQSdsO3k77q/h06jzgNwGwscpHwPLyrn8XFqq7nT4GSlRVuWBhWY1hQAUAFABQBUtjvSGMFB7I/Efxny6fHpFz/wCtaefPu7v36GeP/a9X/wAeXf3/AK9TTinDhfUKXZRqCAFIYMIIZXVlPlpp8aqTLxLi+zCBMQ8O8r9nbRvEQllkygsPacsSeU5T1qbkWM8O4MmJFvFXrVyzeuQ72nykqVIIWSsiCoOkHXXyL2wFg4Za8eklLCfoyFozMbZhnMAATAHnFVVXyGghrVJYFABQBSiQf/cePQL/AFhT8a130tf+Mfq/6zHbVF/+Uvov4i1e9lvQ/SsiNhyx7hXUMp0X2A/ZuD/IT+UVzqnzM0R2H9IMFABQBUxHDbbjVQCNVZdGU9QRqKuhxFSMtV7+OfIonw9OUXFK3hjPXxFvGMVj1sPbsqlxysJdKgjX/wBRCd4kbEGtMZUJJu7T6f0qa4iLSsmuuz9OX18i9wXEW8QAl+yvf21XMHtiDpGZAR7MzpympqU1FKUZXTClWc5OMotNe7oZYfhli0o8CeAe2wBb2s2rHX2tfWqlduyLm0ldkgwNljn7u2xP3sqk6zOseZ+Jod1hgmmrosLaUEkKATuQBJ9TzpRijxyyptOTAMAAnyYECDymtXCzkqiS7/sY+NhF0pN74+5Z4eALaZYAyjb5/OqqzfaO5dQSVOOnoWKqLgoAKACgDDHSpW5D2KnCp7sAiANvMHWR0HlV3EW13TKOGuqdmvAuVQaAoA87ieIYl8S1u1lS3b0ZiAxJIDAxI0Mxp0ok1FEJNssYHDd2sTmJJZjESzGSYGwnlVEpancsSsWKUkKACgClw4ZlVuQEL59W9/8Av1rXxXwzlHm3nu7vL3sY+E+KEZcksd/f5+9y1e9lvQ/SsiNhyxHkK6hlOi+wRjhmDJ/9BP5a501ebSNCdo3Y9W4DsQefupXFrdApJ7M2qBgoAKACgBXZdjjGI8RtoAtuQCQ4lmE+1BAHTWt1Bx7JweLu9zFWjNVVUjmytbx98y3jLl+UNwItskbSSjGQC3JhJG0QdeU1qpxo2ahdy+67uhlrSrqUXNJRv46Xyv1XpbfvJLV97Uh1lesiSfxTtJ6bknyJpZQhVtpefePeLehZGpUo31rHXr3+fTdvluxnZvKwlTNZJQcXZmyE4zV4sVdqLid1kbVmIyqNyZ0+dbOAjLtNS2XMw/8AJSh2Wh5btZGt/HHCrbTubjh2CJlZNC2yEsw+PlVNS1R6755/s0UV2SUGscv15Fu7xmwoGa4BmmAJJMFgQAASTKsNOhqizNFzVuO2MwUXFZjlgA75igkE6GM6zBnxDqKLBcZVBIUAJMMrPfZb+4XMqq0oFJiGG5YwDrp0rfNxhRTpdbNve/d/Dm01OddxrdLpJ4ttnvxfOOg1xeIFtGczCAsY3gdKwnRFq9oFjWzeDHYZJnp4gcvzox1DIkw/BLjhO/fYORE51a4QT4pjwkaepFJKquRKh1GvDMKyBs7B3dizMBE6ADT0AquctTGirFykGCgAoAKANWYAa6CpScngVtRWRdjuLojMkEhQM7iMqZ5Azaz/ALTTqk7Jvy7yNad0jmiPIfGt9yg6H7A2F/s3CGIJsJqN9VFYqlWWqzeOhbGlG10s9R9aw6qZG5EH3Us60pqz2CFGMHdb7EtVloUAFAEeJvqis7GFUSaEruyIK/CrTXMQb+RlRUyKXEMSTJIU6gcp51pitKsI3djnFWBcRkOzAg++npzcJKS5FdWmqkHB7PBROGvd33ZKOIgMSVJA/FoQT1+laFUpa9eV6P8ARm7Kt2ehtPlfKfnv75C4CHAbNauEaFmlS2xi5zMaxAOg6QNO8bq0o9yz6f0ybTSleMu948pfXa/oY4xi8lyycwfu9bkESIIJPXadBrtU8NS1wmrWvsLxdbs6kG3fTvt7/I8xeES8qhtVDLcHmVMj1FcxNxfedhpSXcKLPZtbV0XULsFkqjPASe8JCaag942h8tdKs1qa+J2fW33/AHkq0Sg/gV10v9v1gTY7BDDPhjlvXbD3ES2lpZKMxtt3t08lBtyTrOY6DmrTTaZZFqSTRevdq7q3rgOHU4e1iUwrXBdOfPdW0VfuskFJuqD4p5xS2JuUcP8A+Idq4bCgZC63HvaMe7FoHQEqA2vPlV9OjdXfTGbFFWs00l1zi+5VwnbxLGGXEX7TIbmJyXgTmdVay1224Cr4pQIMoAgselLVk5tLklhE0aap3e7bu376FjtP2jIs4YX7Ud/L3Ft3pFuxKqbjOFh/bSVGmrQTlmqbO+C+65nqYrKWhQAUAFABQAUAFAGl23mEU0JuLuhJwUlZiXiOCRLqtAK3syOG1BIUsCOh0PxrQq9RrfYq/wAemuW/U5t7hev1/wB60aURqZ0h2A/ZuD/IT+UVgqfMy+Ow+JpBgJoAMw60AZmgBdx6O7CsYVrltWPKC4mfI7e+rKXzCz2PR1aKFABQBpdtBhDAEdDTRk4u6FlCM1aSuQHh1qMvdrHKANPQ9as/yKt76mVf41HTp0r0FNniXcu1pmzKhO+6LAIP8Qg/L3Vslw/bQVSKs39X+DBDiuwm6UndL1S38177h2zZkJQjUeE8qwJaZWkjpt6oXg/A8J23xvEba2lwQU5WDXEAJZUtQxliwzIwgQAGMkDnV8oKTuufvy8DPTm4rTKyty979b/Qu4LAYK4n6abpvzcW63du3ctiFCoHFkMRnELAMwQOYqunTlUloiW1qsaUHORthOBYZrK2LsgDvLagOYyXQAyEgbkeHXUwa0V6csaFhL3+zLw9ZZ1vLfl75d9ibCcA4ct0mwiK9phc7u0cqZ7S3EzZF8JMXGVo/hB2FY7s3YF+C7K4K/aVnw5K5WtpbveLulLMYthvYEnQjYZQNAKqnOSdkOoqw/wt+2MttXBKiACZYhdCT123qpp7jFqoJFeJ4myXipQm0qqSVBLAsWgwN10j1irI07xutxXKzK2O4jibQDm0MjgkAgygBEB2GmZgduR61YqUXzF1Meis5YFABQAUAK+0hIs5xvbZXE7GDEHpoTVlL5rCy2ObJH/GH+1brlB0R2A/ZuD/ACE/lrBU+Zl8dg4zhyzXvCxDW7Y0B1+0Mge6ng7JESW5WxWHuRfVlZsqW0UwTnUOSDoNTB1HlTJrDXeQ08m2Kw8i8bVtltkWwFyFZcPJYJAO0CY5VCe13nINb2N8cLhxBvi2xWyyoN9V1DwsS05tx+GiNtOm+4O97j+/ZV1KuAyncHaqE2ndDlHBYu7YuWsPlFxHJyPPiVQCSGHONIPStMZKSuVtWPSUEiXj+GvM9p7BINsO0ZoVjCxbfyYZhMGDB5ayiGefwNnHB7XhupNq1bcnI2QDuMxkyM8d9J8W3pLYINv0jG23uHKR31xVXNlPiuG6srtItxacjoH1NGAJblvG3bjoysLZJIYpaP3b/hBK7ZhZ3B9o6nWGjNxzF2EnTjPEkn4iu5xTFWrmVGdmIbvUXuzkIe0BlME5irP7UkkGNgavX/dh7/6+m5nlbh1dbfXn9didsfiHsZ7zanKjW3W2N7SSY9rOb0roSNdudJoqU8pNe+4s7SjVxdPx/o2HBUw7i3hrYICs6W5VUR8wi5AEE76mToK1UqkZU25fDmzaW6tlf6MNalJVUo3m7XSbSSaeHt97sv8AD7eZxm1KwXO32gEnTfc+Ww3AqutLTB22e3hy95LaEdU1q3W//wCrZ+vh5orjgV7uls57Zt2vZBUzcAuKwW4eQKjKYnMTJ08NYrnQseX4XwxMULo8SOl24sXbZBAFs2x3YzSbKuVZf8A2I0WctJKVxm/Zq5Dfagk5pkHUNczxJnl4diPI7UnaLoNpHPCMKbNhLbsCUEFuUSeu2lVyd3dDLCDhN0XcSblvW2trIXgwzFwQFPMAA6+Yq6CcY5EbuxxjcOLlt0IkMpHxFMiBRwe/nsoTvEN/iXQg+cis81aTLIu6LlKSFABQAs7RfqQOTXLan0Linp7iy2Oa8/8AiroWM50R2A/ZuD/IT+UVz6nzM0R2H9IMFABQAUAFACw4oW8S1y4twgIFtZELA5tWmPvSB7hV9O2krluOMFxa1dOVHGYCSpBDAaalTrzFPYi5NisWlsZnYKNJJ5SQJPQSRJ2FAM8pY7XXIgorEKWDF1XMNw4BP6uCBm2nmKbSRclHa4k+xbiAQS50JYKWYRKoASSxEQNCZqLBc2ftVcCM/dJlDBM2fwz4/HmaALZCjKZ1zj3lguekwdzOivlyl1DEaSJEwSN4qCSLiHD1uA/dY/eHlyPUVdRrypvquhRX4eNVdH1/fUVW7VyxcEm34toB1EqGGp6QRvrWxyhXg0r4/tv6YIwqcPUV2s/y/wDC1gpa8xBjKzSDOoMe4DpESOtU1bRpJeHv9l9G8qzfRv097W5DesR0BD2hAW7h7pJAUurEGNChInqJXah5i0RzMcN4it6YDKywSrbgMJU6aEEa1RODiOnc14vqqW5gXnFtm6KZkepjL76akshLYfogAAAgAQB0Aq0U2oA89w/9ZiCvsG6Yn8QAD6dM1V1eRMS/VQ4UAFACrjqibJOv2m3/AENB9xE1ZT5iy5HNX+at5nOi+wH7Nwf5Cfy1z6nzM0R2H9IMFABQAUAFAGtxoBPQE/ChARdnsMO7F94Ny8AzMREAgQi9FGnrWpq2EVd5Le4NYuYpMUQTetIbYhzAViSQUmJ1O/8AQUXxYLDKBMaTHy/2qCQyjoOnu6UAZyjaNKAM0AaXrmVWaCcoJgbmBsPOmjHVJIWctMXLewhOON11YqEVTCk+IEsJkkaRtpvBnQV0exVKLindvfl75nK/yHWmpNWS2e+/tY357DHhWCa3mnKJiAmi6dAdR6Say8RVVS1r+e5s4WhKkmnby29OXqxhWY1i7juCN20VWMykMs7Eg6ieUiR76lEMT9w1g4VrgAJTubhkQCNUk+4j31E1dMI4ZtxW+LgFm0Q91mBEGcmVgc7RsARVdOLvdjSeLHphVhBmgBDhRlvYhOWcP/nUEj5fOq6q2ZMS5VQ4UAU+I4xkyKihmckCTA0BOpg9KaMU9yGyizNfZCUdFtAscwIPeEEBR1AE67ainxFb7i7nN8+ZreUHRfYD9m4P8hP5RXOqfMzRHYf0gwUAFABQAUAYYToedACm3h7j27uDUxkyNbcHVVLghfED4lCmJnYVqi7q5U1yIU7OX1Mo4VlVEVw7AuBduM9y4o0Lsj6zMtJEU10RYj4hhbyZsTiX7u1aWbmW45YW1FgvBQTr3dwwOo5mgCTsqt+41nEC5nsPb0Od/EpVcpKN96QZMA67nkMEOOP427b7oWQCzswPhzGFRm0BuINwNZpUSxbhe2SvkC2i5uKhUq3hYs1pWhmAACm4PPQyAYBnSRc1vdr4tschzZAUJiHZsmgUEzq4EAltDpqCZjByaSIlNRTbKPBceL9osxVFi3cC94QftFFwplMjflvsJrpRk9Vkm+V9Pda5yZQWi7aSve2rvvboev4c8pB3U5dd+onzgisFeNp365Olw8rws+WPfkWqpLzBNSRexSLLfNy2yhrYABkaFjMgemmo5mrZ09EU3u/sU06vaTklsrZ78/bBNgsDbtKFtoFAEaDUx1O5PmaqbuXWLFQSFACLito2ryXVJi84t3FPs+ycrg8joB51EknEFhlus5YFAC3Hrnv2UmAua6evhgAT0ljPpTxxFvyFe6L972W9D9KRDHLGbz+VdQynRfYD9m4P8hP5RXOqfMzRHYf0gwUAFABQAUAFACW7jmw/6Y9tA7ZrMIfvF4T2h8h1HnWmGYoqluS4ftaGe7FsuiDMhUiWtqsu5zEDRtABqfjDaSLli32lV4UWXPeFltg5PHlZ1Y6t4RCEw0SI56UWJuQYHtWjZB3bBXdFWI8KutrLmAOmtyNNPD7qLEXH+Kwlu4ALiK4BkBlBAPUTUEmi8OtBs4tW85jxZFnSI1ieQ+AouAk4v2WF7FWrpa2LFtGW5Z7pftD90l9wF6eXnVlOrKHy8yqrShP5uXkScAwloF0XKRGRYAjKpYQI3gR8q18S5JKSVub8cGHhIwk5RbvyXhd/wtWyyH+JQA675lHNTO/tR8D5ElGpHu5dz9/waLnTferXXVdV9bejN8RdF05QZTKCYO+adGjUQOXn5UlKHZq7Wb+7D1Zqq9Kfw29b9SN7XszLxCgQNB1Pp1q2L3tjmVyjtfPIqjillHZVuIr2/aQkCQBMRygSZ/pSzSatP/Q0G070+WLdfebPqOxi008QEjNqYManY+h+B6VhlFxdmb4yUldEwpRjNAFTiuFW5adGEgqfcQJB9QdalYIYu4XdLWbbHcopPrFZ5q0mWLYtUpIuxfhxFlt84a3HMbPm9PCZ91PHMWhXuXr3st6H6UiGOWM38XyrqGU6L7Afs3B/kJ/LXOqfMzRHYf0gxFir2RC0Tl1PpVlGn2k1C9rlVap2cHO2xKDVZaFABQAUAULNhRiwAoi6hdwdi1tkyvH4gT9KvptuJXLcaPwmwQAbNsgRAyCBExGnKT8TT3INOIcHtXUyEBdZlQv4s2zKQRm12313ouFhVwLs+yG4MSmHe2jj9Fyp4ltqFC5yRq4yrr5e4S30Cw4xuNKsLaCbjREjwgayxPlG3oOdXUqSa1yfwr18PMz1q7jJU4K8n6W6+X6XMu1nNJHiLQdWU7MCDHQ00JOMlJchKkFOLi+Ym7Q3Da7tlUakLPQggr8gw99b+CSqKUW+/wDf4Odx8uycJJc7ee6/Iwx6iFce1IHqCdj9fdWag3dx5GviErKXPH1Fb33a6UUQEIMj73hkofX+lbdMYw1N7/vcwOc5VdEVhZ8cbFzC3SyyRH+3Wq5xSdkXU5OUbtHnMbwe41u9ZDWwrXHbMwOci+fZjbRifEDMLEc6VxbljZ/dIZSUVndP1Tfv0KXaPhlqwty5fu20w8tkDKxW33i3kgKoMktdDba5TVdSDtqRdTmk9L8vf1LeH4Vd8dxQty3mA7tZhwrKQIgHIBK65jK6CDlqmcXG1+auWwmp3tydvQnwnZm+1pA7KjFVzHM2cDuwpw8j7gPjmZn40lx7El/gtxL9sImZO8VlaSFtILzuyjXmpCkaTAAnYCYWLvAxFrJzts6EdMrGPlFZ6vzFkdhhSDC/jds933imHszcXSZgGVPkRT03m3UWRbLyk9Vn4il5knLWbzFdMzHRfYD9m4P8hP5RXOqfMzRHYf0gxrdQMpU7EEH300JOElJcsiTgpxcXzVilbvPbADoSqiMykHQcyDtpWuVKlWlenKzfJ48kzHCrVoxtUjdL/wCSz5tf7LytIBGx1rG007M3Jpq6AmoSvhA3bLNMPeDqGEwdROhjrFPUpunJxfISlUVSCmtn1KXFD3bW8QNrJOcdUeAfhoY8qak82Jn1PRIwIBGoOoNWEFTH4ko1qNmeD5jKxgepA+XWr6NNSUr8l+UZq9VwlC3N59Ga8HYtbDkybhL77AnRfKBAjyqeJSVTSuWPfiHCNyp65bu79dl5LBrh/wDzFzNvlGX/AAjcfE1M/wD+MbdXfxFp/wDuJ36K3h/sttfUBmzCFnMekbz51SoSbStvsaHUik5XwtyHGYkqLZGzuqnTWGB5b9PTXpT06alqT5JldWq46WubS9ffluUeKXFulU318M832kdQupMVp4eMqSc37X9MvEyjWah3/X+ZZc4gQAg/in3KCZ+nxqjh1dt+8mjiHZJd/wBhXwa7rmcBRmdvKPCJPvrXxUfh0xzt+TDwcs6pYzJ/YuYceEaRzjoCZilluXQ+UkI+VQNYp8YwouWmUgHnB2MA+R+lPTaUlcqrxbg7bjbBIoRQmXLGmX2fd5VgquTm9V79+5voqKgtNrd2xPVZaFAHmVx1u3dxWZhlV1YkawXUCNOeYbUlSLbViYu1xjZuqwDKQwOxBkVS1bcYUcSxd5zctWUUgEIzZtQHGvhMbDz3q2MYqzYrbeEM1tZLeWZypEnyETVd7u4xy5PmK6ZmOhOwzP8A2ZhIA/UW4jfYcorI1Tc8sZuoo4S9+R6HDsxBzddNIqqqoprSPScmnqJarLShi8T4svImPVtPCTyGupHnXR4bh0o9rLln+/TBzeJ4hufZLZ488Y8M5LllMqgdKw1J65uXU304aIKPQr8RuDu7g8oMbjNp/Wav4SEu2g++/oZ+MnHsZrus7d+CHhY8TnRgY8Q6gDwqZ1XpoPfNW8ZZQgtnnHdfd9/X8FPBZnOSysZ77bLu6fm5Fxm8r2WIg926kqdmyMCUI6Go4WnKFVJr5k/qhuKqRnSbi/lkvWLTsenUVWakK+NMGsh1AbIwYGYKw0EjbUVr4VONXRLF164MPGOMqOuObNNPpndFnhNvLZTqRmPq3iPzNVcRK9R+npgv4WOmlHvz65KF+5cRnYeN1BVdOqgrIHnoT9K0wjCcEtlu/WzMlSVSE5SWWrpel1+g4bghcUB5NtPCqkRnP3rjjnLSBy3Os1Faq6b+H5nu+nRLyDh6CqRtPMVhLr1k/O9uXPmacWxJN9La/dnxbQSN5g8p5dabh6aVKU5c/sLxVWTrxpx5c+jt+hVZBU94Wg8j+FNvDJicpBgwZM7aHZK0loS/r7+6/wBDBC8X2jefstscr2ez5523fWpaHYySOmgB1gA/MnesVlH4YnTTc/il/oBh1kGPZ0A5ddutTrZHZxuiWlHCgDFAEvC4CZREIxWByEyB8CKz8TfXd87F3C2VPSuTaLc1QaRV2p4q2Gwt29btPduKv2dtFZiznQCFE5Z1J6A1KVyGeY4befFsGNo2hc7u/cS4rK6svhZApAPtKTJ5EHnUTajnyCORlj8PctOHwy/rWyusHICdrhA2jn1quLUlaQzTWxPwrCvbswyr3pJLFeZJOsncxReMpq+xElJQdtyabmVpjb72nLcQKefZXVvp/WVQ7bn9cfZHL+v8Fashg6N7Afs3B/kJ/KKwVPmZfHYf0gxC90k5UgnmeS+vU+VaqPD6vinhff31M1Wvb4YZf299Clj8KORYZADM7sWkE9dcxjzFdDtFFqNlnHlbl9Ec6dK6ck38Kv4u91frzdti3hsVmJUiCADvuGEzXMrUNC1J3V2vRnSo8R2j0tWdk/VC3EqxZmVZXNmYTvlBA1/DImNfrXRp6FCMZO0rWXm/vZ2ObV1ucpRjeOq7Xgrel1cYYaEQknQEyf8ADp/SsfFKVStpXdbzybuGcadFyk+t/LH4FParCqVS4IBDiW8iDBb3wJ5TWj/jq0oz0N46ff35mb/kqEZQ1xWev29+Q+XiTNbYhYYQBJESTlnTo3Lnp1qXw6jNJvHt/YdcVKVNtKz9r6MoKJsKhOsO1wA6TJ1nnzIHM61p/wDuckuiRk3oKDfVyt4/78dyxaJRyLJBGUJ4laF7vSJ0BG+3OqnHXH/s3u3i2bl0W4TfZPFksp404995YVTJZjLHfpAmAPjUYSstizLep7kWGRrZJHj8IVZMZQJ5Aa76n5VNRRmrbZu+8SlqptvfCS5Wt5er+hDfw0ZmLKWaIzDwz8ZjlE1ZCW0UnZdNyqdPeTau+u1/fK5WF9fw53Y5tRoDowy6SRMHrVul9bL2slWuPS73zsueMbDHCjwyRBbVh59fKqJ72NVP5b2s3uTUg4UAV8fh+8tvbzFc6lZG4BEGPOKGSKBwK4vs3yFAgDxCRmk54aSxG7TJPSo0hcocB4bcbvLa4i4C83A2oHiyA6KwnrqPvnXTRuLouCUm78u/mVcDxMZtxStzxty7/wCedxu3Zy/nDfpTAjLr45IVywB8cbHKQIBgE1hudGxZ4fwu9bxEm47WlBjNcYkkiMsE6jcknWYjoC5Nja9rjHn7tlI/6mefoKqq/Kho7lqqRwoA0vey3ofpQgOWI8hXUMp0P2CDnhuD2Udwmu5PhHLQD51WuHg3qlkSVae0cfUf/o4O5Y++B8BpV0YQjtFFLcpbyfvwJVUAQBA8qdu4JJYRUxuHkMdTzKiNYHKefv5U0Lak+fUqqxehrdb2xkqtgnd85CyoULOkkEn1AII0ogowg6abs7/VL7CzjKpUVRpXSX0b+jusGTZLOUg7gsw8iW085IA32mhR06ZdE7edkDvJyg+bV/K7/NvqGOsudBIQMSehBjcjXQljt06VEIxU3O13ZeN1+8e2FXW4qCdld+Fn+m37RDxXGIlkC9cRUvfZqHBzMzaBEC+0x5QOXwq7GnGevK9+8F3aVZw0q1u/f6ety5gcGwtoLhOZQAdfwkka/XrFXXUcLPeJpcrOWNrpepctWlUQoAG0Dy0qHJt3Y8YRirJGtx1tqSYAAJj01MChJyZEpRpxu8Ihu44BsuVj5j/p/wDkKdU7q9/ef0VyrKMrWfu37Iu9a6gYKYkyAdxGhmRoDv6U1lCVriapVIJpe/oFrAEnNcaZEED/AAkHU+p+VDqpK0UEaDbvN+7W/Jaw+GCTHMz6eQ8gKrlNy3LoU1C9iakHCgAoAKACgCgyD7IIcrm6VlSASmsz5ZVAnyFPd/E5K6038/b+5S0vgUXZ6rY6Z38kvRD+uadUKAPN8btsb7BJDNZWIMezd11kciedRK1k2CIEw98Llk6xBz7QXMHWZIKjnt5Ul4k2ZG2BxAgBzzB8Z2ZUE6k6jxH19anVALMsYe1eDMXMqUyxmmCqjWPM5vlStxtglXOao8hXQM50b2B/ZuD/ACLf8op1sUS3JeINjBcY2lVrekAlQdABz6lid9O7/iqHe5K02Mu+MKXPDbDgju8pHiAIJnNIEgEa7Zh0qckKxFbuY4AyiMczEarsSSo0YaAeE6SIB8WtR8QYJ1fFlXlUDApkIjUTLGCdo0gwfrRkMEC3sdMd2gkbkqQpgaABgTqD8RUfET8JawoxTTnKJqI8M6Aa5YbmdJY8hprTZIwYxGFCFHIN1wZLOJYdMgAyprHsgaVZTgpXuU1ako2svH342JLOJuwJSTAmAdzG06c/dFWShC+GUwqVbK68ffuwLhrpklyCZG4iCX6DzX4UOcFsveP6Cp1Xe795/aJmwQIXMSYEHzjn1Hupe0tsWOimlqZY7oTMCetV3drFulXvY3qCQoAKACgAoAKAEeM4gRfZWvd3lNvu7YQMboc6nUZjrK+EjLGY6UreR7YKSdqmIWEQlioOVyQmcEnP4ZHdwA23trtUag0ohLXb19U73uWwt1bl02oPeqvhYP8AhnfKdYnQ70z1TWm4iUKb1299T13HMabdvwfrLhCW9J8RBM+gAJ16ViRuYqtYa7ZfvUJvM0i6GYLm2ykD2RERGm9Iqie5LjbYjuY5mu2ndQjo5suoadLiB1IMCdQPiaaSvHBCwxxWYtCgDS97Leh+lCA5Yy/w/OuoZTo3sD+zcH+Rb/lFOtiiW4/qRQoAKACgCnh+IK3VdA2sbNoNidfI1bKk4lEOIjLu5+vgWFvqYhhrEa9dvjB+FI4tci1Ti9ma3MSikgsAQJI8gJ+mtSoSeUiHUhF2bNHxgCo0E5/ZGk6gnUkxsOtSqbu10FdZKKlbfbbxNrWLRgusZhIB3j/gPwqHTkr9xMasJJZ3MDG24nOsTEz5T9Nans53tYO2p2vdGXxiAHxDRc3uAn6R8ahU5Pl3A6sFfPK5MKUsM1ABQAUAFABQB5DE8bvW793xyitcGTwkhVtBlYqLcqub75YgyBGshNTTLNKsbWe1FwW0zFC2W6Xze0e7Z1Urk8MtAOUA6EmYGpqI0lvgfErt9QjQfDdDOYlirZFICeEAg5tzpETM00JZQlSN4tdRpxu/KWbkHJbug3eq+EjXyBImORmstSDi2jVSqKST9e4uViNJAcFb7zvcozxGbnH/ADnU6naxFle5PUEhQBpe9lvQ/ShAcsZfL511DKdG9gf2bg/yLf8AKKdbFEtx/UimGYDUmB51O4NpbgrA7EH0otYE09jW6mZSJiQRI86E7O5EldNFNeGgfeM6TAUAhQYEAec+oFXds+n3KFwyXPpyXK/7NsLgcrTyVQq+4HxHTfUj09aidXUrdXcKdDTK/RJLy5+OTa5gQS0sYaTGmhZcpPU6fWoVS1se9xnRTvnf8qxtisLnKmYyzyB39RvUQnpuNUpa2s7eH5Ihwtep2AG0iFygyR0+dN28vfjcr/xo9fdrGuKwBPsGJBBPQFVWAI6CphVS+b3zIqUG/ldvxhLGO42bhqySWOsiNNmI0+UelR2ztZIl8PG92/bt+rF6apNAUAFABQAUAFABNABNAGr3QNyB6mpSb2Ickt2Q4hRB5rcUo3QhhAPuJ+BNFr78s/tEN2yueP0/I1wDzbXyABHQjQj41zeJhoqyXffyZt4WeujF91n4rDLFUGgKACgDS97Leh+lCA5YjyNdQynRXYG8v9m4PxD9Rb5j8Ip1sUS3H3fL+JfiKkgjxBRlILD3EctaaMrO4k4alZkWByKshh4oYyw5601SV3boJRgoxuueSz3y/iX4iqy4O+X8S/EUAHfL+JfiKADvl/EvxFAB3y/iX4igA75fxL8RQAd8v4l+IoAr49lKHxjwydx0PPl609OVpFVaN4+BJhyqiM6n3gfKaiUru40IaVYk75fxL8RSjh3y/iX4igA75fxL8RQAd8v4l+IoAO+X8S/EUAHfL+JfiKADvl/EvxFAFbGBDDZxIIGjAbmJ+ZqyErYKatNPPh9/6T50iMyxERI2pL5uW6VaxTsXFtswZ1hjKmfd4j1OnrVPFw7RKUVlbk8K+ybjN4bx/X1+5afFIIll1MDUb1zlBu9uR0JSStfmbd8v4l+IpbDB3y/iX4iiwGt68uVvEux5jpUpEHLcf4q6RmKWI9pvU/WqmOR1AGaABt6CWYoICgAoAKACgAoAKAMPsfSpRKNqggxQAUAFABQAUAFABQBhv9vrUkozUEAdj6GglGW2+H1FWsRBTChQAGoJIKUk/9k=">
            <a:hlinkClick r:id="rId1"/>
          </p:cNvPr>
          <p:cNvSpPr>
            <a:spLocks noChangeAspect="1" noChangeArrowheads="1"/>
          </p:cNvSpPr>
          <p:nvPr/>
        </p:nvSpPr>
        <p:spPr bwMode="auto">
          <a:xfrm>
            <a:off x="53975" y="-1210866"/>
            <a:ext cx="3143250" cy="252888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394" name="AutoShape 10" descr="data:image/jpeg;base64,/9j/4AAQSkZJRgABAQAAAQABAAD/2wCEAAkGBxQTEhUUExQWFhUUGR0YFxgYGBofGhsaGBoaHCAXGRgaHCggHRolHR4bITEhJSkrLi4uGiAzODMtNygtLisBCgoKDg0OGxAQGywkICYuLCwsLCwsLCwsLCwsLCwsNCwsLCwsLCwsLCw0LCwsLCwsLCwsLCwsLCwsLCwsLCwsLP/AABEIAOkA2QMBEQACEQEDEQH/xAAcAAACAgMBAQAAAAAAAAAAAAAABQMEAQIIBgf/xABGEAACAQIEAwUFBAcHAgYDAAABAhEAAwQSITEFQVEGEyJhcTKBkaGxI0JScxQzNVRissEVFnKSk9HwguEHNFNj0vEkJUP/xAAZAQACAwEAAAAAAAAAAAAAAAAAAgEDBAX/xAA2EQACAQMCAwYHAAICAQUBAAAAAQIDESESMQRBURNhcYGR8CIyobHB0eEU8QUjYhU0QkNyM//aAAwDAQACEQMRAD8AedluA4H+zsJdvYa0zPaQs5QEksslmJ+ZrJKU3JpMtSVsjEcC4dp/+Da1OUfZrqRvzqLz6k2j0JsJ2c4dc9nCWOf/APNeRA/qD76hymt2CUWav2a4cHg4Sx+E/ZruYI1j1q5Qqunq8/JGd1qaqafLzZpwnslgnD3DhLMXGlAba+wAAD79T76qnOSxc0KKZLgeznDbubJhLBCMVJ7tdx08qiUpx3YJRZZ/udgP3Ox/pil7SXUnSg/udgP3Ox/pijtJdQ0oP7nYD9zsf6Yo7SXUNKD+52A/c7H+mKO0l1DSihiuwOEZ86WrSeGMvcoVmZkyP+daZVmlZkOCIm7DYfUulhQYEJYQfDMCQTTxqOTtFfUWSUVdkmC7B8P0Y2LbldNVWBp5ASKmtUmpPFhaKi4rN+ow/udgP3Ox/piqe0l1LdKD+52A/c7H+mKO0l1DSisOzfDu87v9Dsz17sZZAByz1ykH0NTrna9wtEs/3OwH7nY/0xUdpLqGlC3EcI4YjOpwdqbftRaXbLnJGskBZJPlAk6U6dRq9yPhGX9zsB+52P8ATFJ2kupOlFHEcD4YhYHB2vCYb7EQBAOaTuoBEkTTJzfMi0SMcG4ZKlsLYQNKw1tQcwAaP8pzek7Qae89NuYtlqvyLWD7N8Nuzkwtg5d/s46jmOoI9xqtzmt2OlFk57IcP/dMP/kWhTm8ZIaislZuz3DAY/RrBPRbcn5A1eqHENXtbxsvuZ3xPDp2vd9139rmB2bwB1GAtEde7HzET9ad0ZKylUSfT3gVcRfMYNrr7yYPZLBuYGDsAfliPeSAfcPeadaKKvOWp9Pf59BG6lV2gtK6+7ei82Tf3KwCqYwlk6blF5D0rJOvKTvt4GuFJQVsvxyc5/o6/h+dbbFR987FcVReHYVHRs4s2wikCXzACU5R16Csc4NybRepYHgxndmbuHKA7MkPr0OUSCfSPOk032ZN7boj7+6zDusMF0kNcgaaARlkgxrB5CpsluyM8kQ4jF5ke06RiWlAqg+ImYuA/g5np61YpSWz+ERwg8tZHBssLWRCAwTKp5AgQDWe61XZbyEFjC3LT2UDW1uMAsqW1OUwtxJhgYIDgAyK03U0yuziOsFjGZmt3FyXUgkDVSDMMh5jSqJw05Q6dzXGcTCPlyMwUBrjKJyA6AkbkaHbaiNNyVwcrFy1dDKGUgqRII2IpGrDG9ABQBpdthhB2poTcHqQk4KcdMtgtWgu3/P+1E5ynuEIRhsb0o4UAKMQWGJ+zFoubcnO7A7xIAB5BZMDYank6+XIvMsZ8T+Cx/nf/wCFR8JOSjiOHXXbM1uwZnMC93XbY5fCOoA8Wk0ykkrEWJsXj76RK2MxBKjvHE5d9SkADqahRTBtkL2bl4BwmHYZgSc9zxZZGU+EfAztqKm+nGQtc1v4RlQZrWHyqZEvcJkxsckzoB6abU9OMqkrRvcSpONOOqWxWaxiYZyLFm3GZvG48ILMcxK6asxk9dq19pRou0Vql15e13epi7OtXzJ6Yu2Ofn49/oXcJdSWF1rauGCjK8g5gCN1EGZERHhqt8XW5Fv+HRGysq6SJHnrqefPc/Osk5ym7s1QhGCsiWkHCgDS97Leh+lCA5YjyNdQynRXYFQeG4LQGLCR5eHlXOqfMzRHY9BSDBQBiKAKWL4iASlsNcux7KLmgnbMdl95p4028iuSRb4VwdEVGdA16AWdvE2aNYY7a9Kvb6CJFbinBLt2/wB6LwXIpFoBRIJGuYndSanFrBm4txfDsW2W7kQXR7OQgFIOgYkw6MJkcqiKUcIG2yx2ew5tC7bPtJc1APhGZVYBeg1j3VVW3TGhsNqqHF17jNtb4sk+I89MoMEgEzvp8x1p1TbjqF1K9hjSDBQBTx3EktgyQWH3Z1/7Vq4fg6tZqyx1MfEcbSoJ3eVy5lb+3FC5nRxrAgSD5htBV/8A6bOU9MJJ+OH6bmf/ANUhGGqcWvBXXrsa2cVYa73guEGJytosxlLQRJaBG8RVc+C4iCtp9M95dD/kOGm8St447uZYxHFkWN2LHSPrrFTT/wCPrTvfFuv8Iq/8jRhZK7v0/tjFviysTlR2ymCQNJ+NEuAnBLXKKv3kQ/5GE29EZO3O39IcfbsX0Du3hUHYgGDHOMw2HskT5iq/8etCp2aWS5cVRnT7TVgkw18KMlsPdaSSxgeJiSSzQB7gKZ8M1mq1FfXySF/yk8Uk5P0Xm3+CVcKzFTcb2SGCjaRtP/Pf1JV6cE40o74u97ER4epNqVWW2bLa/f78+tq/aDqynZgQfQiKxp2dzYLn4GhbNmfnp4YhjLL7OzHU8+hFP2jI0mzcEtFy+uYnMTpyZm6bSx+AoVRrAaUMqQYKANL3st6H6UIDliP8VdQynQvYa6w4ZhPDtYSDM8hyGtY3CLna47qSUb2H2GvFpkRH/f8A+/fS1acYW0u5NKpKd9SsT1SXGtxwoJOwEn0FCyBH2XsMtoswjvXNwSZbK8EZj1+gitT6FSGOLxtu0AbtxEBMAuwUEwTAk6mAT7jQSSowIBBBB1BGxHUGoA2oAWcU4RnPeWzkvCIbWCB911B8QjSp3wyPAXDiF1dLmGvCBqVAYSN4gzl5yaqdLoxtZBwThy3xiLrQbV8kIGGoyypeSPDPx0q5XSS5idWacP4yAjJdP2to5CObEDcevWrP8Gc9MorD3fTJmlx9OnqjJ5Wy64uZt3MTcWTFuCS0KZgDYSdT8K0ShwVGWPjbtbOPHu+pkjPjq0bytC174zbosu/0I7GFse0yMx3MmeQ1OvORoaepW4r5YySXd5/a3L7iU+H4T55xbfe79Pvfn9i/cxylSChKkbaajLJ0nSNaxR4aakmpJPzw7+BvnxMJQalFtdMZVrvn4i69hbBMRcmdfENwcuUkz1BrfCvxMY3Tja3R7b3SRz6nD8LKVmpXv15rFm3fxLmHv27ajImvOYnTX47x76y1aVWrJupL726fq5qpVKVKKVOP2v1/dvNmLeBtXGeUiIkKxCkydwIEyPnUz4mvRhG0r36pXW3PPUiPC8PWnK8LW6N2eXyx08y6MBakNkWRtpoPQbVkfF1nHTqdvH87mxcHQUlJQV13fjYsgVnNAUEhQAUAFABQBFiHIGgkzGxP0+tWUoxk7SK6spRXw+/fUhN5yjEprB5xy8/+aU86cFKykVwqVHG7icva+fxP+1bMkYOjewH7Nwf5CfyiufU+Zl8dh/SDBQBV4nhu8s3EG7KQPXl86aDtJMhq6NbHHGUJ3thrdvRWckeExE5Rsk6T6aVoum7JleUXOK8N75rDByotOzkqYYhrTp4SPNgfdQmDPN4bsjfBtg3ECKttGCM6hltmwYyhdB9m4jNB7w6CTLakRYi4jwXEr9nbVmIDlXDMMqm3eC2l1iMzJ0MjoAQXQEnFrTYRM92/asW71xbYBe6QrFrZCp4ZJbI5OgAzHzkWQPV8Hwfc2LdsmWVAGaSczQMzSddTJ160rJRvxB8lq4QB4VY+WxqyjHVUiu9FXES00pS6JniuzeFViGygsHJcn7oUEKo9SZ91b+OrVIa9TaTVkuvV++pyeAoUpaNKUmvik+mMLx/R6thIg864SbTujvtJqzI1w6ARlHv1+M1Y60273K1RppWsjcWx0HwpHKT5jqMVsjDWlO4HwqVUktmQ4Re6NopbsaxmgkKAME0AGYdRrtQBhXB2IPoaLAZzDeRrQBmgAoAKANL3st6H6UIDlifM11DKdF9gP2bg/wAhP5a51T5maI7D+kGCgAoAwygiCJB3BoApcLvCxdNliVtvHcyZUEDxIDuNdgfdWiL1Irasx8zgbkCetSBtQBFiMMlwAOiuAQwDAESNQYPMHnUkEtQSLuOP9nlic5A+cyfLStXCL/s1dDHxr/69PVpC3A4ZbV+9bTRALbR/EQZ+IANZeJqSqNSluaaFKNKOmKwMazF4UAFABQAUAFABQAu4jbJu2CASAXkxtKECnjsxXuhTw3C3E/R1Ktkyl+fgYoQyHprqPUirZNO4qTwZ4dY/UZLbKyW2705CsysZSSBmObXntUSe934AuRpfw125asW1Q/Z2s8kxDxC7jUjUx5ipTSbfeFnZI9HhLpdFYgqSASDuDzHxqiSs7DomqCQoA0vey3ofpQgOWM3mfhXUMp907CJfuYHDG3dyotlFWQNSAJkRqBtNNKXC0opVIXby88uX7MOji6tSTp1NMVhYW/P9HpreNK3FtXNWbVXUQD5EToazS4eM6TrUtlunuv2jTHiZU6qoVst7NKyfdbNmMKxG8KACgCPEYdXXK6hh0IkaVKbWUQ1cWYjgNrK0KWgHIjO2VSR90TprTqrIXShrwLiKXLVsd4C4AVgxhswGoIOs1e0KmNKUkKAFXEmLXrKfdnM3qASPjB+flWygkqU589kYeIblWpw5bv62+z+pUwLTcvsd2ulY5wigAf199c+ryN8S9VQ4UAFABQAUAFABQAUAFABQAUAFABQAUAaXvZb0P0oQHLGb+L5V1DKdF/8Ah+P/ANbg/wAhPpXOq/OzRFWQ7u2VaMwmDI6g9QRRCpKHysidOM7altldxUsDJeKAtBTN4iTrmiddq01H2nD62liVsJLFjJTSp8Q6abzG+W3m/fsX6xm4KAF7Yi8blxbdtGFvLILEMc4mRpGkHQ1bGmmr3Ecsm9z9KUa2UeR9y5sfPMBI9Knsl1DUyLCcOuXMSr37SoLQkFSCGedDPtQByPWnSUVhit3PSUEhQB5njOI7zELaX20KkbySCG9AInX19/V4aGig5y2d/wBHF4yp2nEKlH5lb8P7fka4ngeHuMzPbBZtzrPLUa6HQajpXLuzs2KrcMvp+quh15LdBkeQddSPUGlcIsm7RE+KuppdsN5Nam4D7gAw+FI6XRk6uoHGXY/8rd6/c2/zb+VHZd4agHETzsXxO3gmfgdPfUdkydSNlu329jDwOt1wnwADH40ypdWRqMM+JXV7Csp5WnzMPXMFkHy2o7JcmGojucWgfqb5I3HdsIHMknTTyNL2TJ1IE4mzk91ZuXAPvQFU+hcialUnzZGomzYn93X33l+GinX5edT2S6hq7jXD8SUtkdWtuPuuImDHhbZh5jrSSptZJUky7SDBQAUAFAEeIaEYnYKfpUxTbSRDaSuzlfvR1+Rro6kZ9LOjewH7Nwf5CfyisFT5mXx2H9IMQ4myp1JgrqGmCOuvTqNqtpVJxemOb8uvvlzKa1OElqli2b9P515dTTDYgm3nYdTtuoJgx5iDFTXpqFTTHu9ea8mRw9SU6alLv9L4fmslaxxpDq4NtSudGeIZBuRB38t6V0mi1SRe7PWDka64Ie8cxB3CjRF/y6+pNXWsrCd42qCQoAKAKfE8S1tQVy7wc3odhIk1fQpxnKzv5GfiasqcU428xNwe7mxVwlSDLemkCZ6+XnW7iY6eHik+hzuEnq4qTazk9LXKOyKcF2kw13uclyf0i2blskEAqGVdSfZOZgADqTI5VOlkXLVzi1hTBvWgehuLO8bT1oswuZu8UsrOa9bGUw0uogwTBk6GAdPI9KLBcxc4pZBjvUkGD4l8PhLS2uggEyelFmFw/tWxCnvrcNIXxr4iNCF11M6aUWC5EvErd6wblm4GBUQVIJBYCAQNm1Gh61ZSjeaTKq0mqba3/JP+hgQUJRviD5ETr67+dT2reJZRHYJZhh/TzRrYxOUlbrrmnSdJB2gfL3VM6epKUE7etmRCrpbjUavfHK694LTOAJJAHU7VSk27IvckldinjGJssoFzJkJjO4BX/pnc+Y0GtXRhpzL05+fQpdRzxD15eXX7C/CqcO6pmL2bsd04MhTHsbkwYkHWqqtOM05R3W6/I0JyjJRnz2f4Y0ZwIkgSYHr0rKot7Ivckt2bVAwUAVsfquX8Uz6AEke8ae+raOLz6ffZem5TWzaHX7bv12OXv8vwrbpQmpnRfYD9m4P8hP5RWCp8zL47D+kGNbiBgVOoIII8jUxk4yUluhZxU4uMtngVXLzlbdhG+1clC3NVSZuesRHmwrVUgnUcrYeV5mehJ9mot3aw/LH13HlvhVoW0tlFZU9nMA23PXnNRdlti7UEhQAUAFAFbiK+AnXw+KRvp0901bRfxpdcFNdfA30yeexWLNh1uwxLDxADTQhcz6TJUrr1rpwpKtF09rbfeyz4+RyKtZ8PNVcu+/Tpd4vlWz1PTWrgdQw2YAj3iuTKLjJp8jtQkpxUlzPNDsctu24tOxfJkt5iAFOVYIIUkRcBubHxMfKC5Nitxfg4siyiWr17vrnduyZfsw+H7k3WzA6AeL1J9CJgMcJ2Tto4bOxyszKDBjMt0ESZ53GOkbDzJLk2IX7GWypU3Xy5SoACje21ssREFoY6wOUzRqCwcR7Nu1xjaYBbzo13MdQEdGhFyfwnWRqddhBciwwTha2bTZWOlu2smBHciAdBv/XlT0n8aK66/wCtljifFVsBMysTcMKq5ZJALES7KJgbTJ5A1XYtuV+Icew9tA7mZD6ASwyKzOCp1EZSCDsYBqVdENJ7oBxDCCGD2+cCeY/h5H3ak+dO6k2rXEVKmndIrcSxSXhhGt6i4wury+z7skkg9QwEHrVUsJ3LFugt8IsqxYW1mZ11AJ3yg6CfKqlWmtnYmVKEvmSfiTnBpM5R6cvWNp86ZcRUSsn+/UR8PSbu4/r02v3kVm1cBIzDLJIYkk+SwfLzP9KsnOjJarZ6beftL8iQhWi3G+M538Fb+v8ABKuIhSW0Ke1/uPKq3SbklDN9vfUsVVKLc8W3/fgRsc+Zh7KghehJGp8xy+NS12cdPN79y6fn0Ii+0nqWy2731/Hqcwf5a2iHRfYD9m4P8hP5RXOqfMzRHYf0gwUAK+M4cjJeRTntOGOXcrswjnpWrh6jadN7Pbuf4MtamlJVF5967+tvUbYLjVi7lCXAWaYU6NoJ1U6irOxnZys7IO3p6lHUrvYscQvm3auOIlEZhO3hUnXyqtFp5W52ru21bvFXMpRv1bKe7KhnOTO2xMBpA6xuW0kXLV3tUwyqLcszBVJ0Vj3uUqNYzZZPtTziKixNyDH9r3XNktrKJdBBlvtrS3GyZwQMpFsnWDBBiDILEXHHD+K97cu2mTKbajMJnUs40YbiADsN6FdZQOzWRVjLYKAHL4WABjSGBBBUGSNAdh1rr05Wk2r5X2OHWipQSdsO3k77q/h06jzgNwGwscpHwPLyrn8XFqq7nT4GSlRVuWBhWY1hQAUAFABQBUtjvSGMFB7I/Efxny6fHpFz/wCtaefPu7v36GeP/a9X/wAeXf3/AK9TTinDhfUKXZRqCAFIYMIIZXVlPlpp8aqTLxLi+zCBMQ8O8r9nbRvEQllkygsPacsSeU5T1qbkWM8O4MmJFvFXrVyzeuQ72nykqVIIWSsiCoOkHXXyL2wFg4Za8eklLCfoyFozMbZhnMAATAHnFVVXyGghrVJYFABQBSiQf/cePQL/AFhT8a130tf+Mfq/6zHbVF/+Uvov4i1e9lvQ/SsiNhyx7hXUMp0X2A/ZuD/IT+UVzqnzM0R2H9IMFABQBUxHDbbjVQCNVZdGU9QRqKuhxFSMtV7+OfIonw9OUXFK3hjPXxFvGMVj1sPbsqlxysJdKgjX/wBRCd4kbEGtMZUJJu7T6f0qa4iLSsmuuz9OX18i9wXEW8QAl+yvf21XMHtiDpGZAR7MzpympqU1FKUZXTClWc5OMotNe7oZYfhli0o8CeAe2wBb2s2rHX2tfWqlduyLm0ldkgwNljn7u2xP3sqk6zOseZ+Jod1hgmmrosLaUEkKATuQBJ9TzpRijxyyptOTAMAAnyYECDymtXCzkqiS7/sY+NhF0pN74+5Z4eALaZYAyjb5/OqqzfaO5dQSVOOnoWKqLgoAKACgDDHSpW5D2KnCp7sAiANvMHWR0HlV3EW13TKOGuqdmvAuVQaAoA87ieIYl8S1u1lS3b0ZiAxJIDAxI0Mxp0ok1FEJNssYHDd2sTmJJZjESzGSYGwnlVEpancsSsWKUkKACgClw4ZlVuQEL59W9/8Av1rXxXwzlHm3nu7vL3sY+E+KEZcksd/f5+9y1e9lvQ/SsiNhyxHkK6hlOi+wRjhmDJ/9BP5a501ebSNCdo3Y9W4DsQefupXFrdApJ7M2qBgoAKACgBXZdjjGI8RtoAtuQCQ4lmE+1BAHTWt1Bx7JweLu9zFWjNVVUjmytbx98y3jLl+UNwItskbSSjGQC3JhJG0QdeU1qpxo2ahdy+67uhlrSrqUXNJRv46Xyv1XpbfvJLV97Uh1lesiSfxTtJ6bknyJpZQhVtpefePeLehZGpUo31rHXr3+fTdvluxnZvKwlTNZJQcXZmyE4zV4sVdqLid1kbVmIyqNyZ0+dbOAjLtNS2XMw/8AJSh2Wh5btZGt/HHCrbTubjh2CJlZNC2yEsw+PlVNS1R6755/s0UV2SUGscv15Fu7xmwoGa4BmmAJJMFgQAASTKsNOhqizNFzVuO2MwUXFZjlgA75igkE6GM6zBnxDqKLBcZVBIUAJMMrPfZb+4XMqq0oFJiGG5YwDrp0rfNxhRTpdbNve/d/Dm01OddxrdLpJ4ttnvxfOOg1xeIFtGczCAsY3gdKwnRFq9oFjWzeDHYZJnp4gcvzox1DIkw/BLjhO/fYORE51a4QT4pjwkaepFJKquRKh1GvDMKyBs7B3dizMBE6ADT0AquctTGirFykGCgAoAKANWYAa6CpScngVtRWRdjuLojMkEhQM7iMqZ5Azaz/ALTTqk7Jvy7yNad0jmiPIfGt9yg6H7A2F/s3CGIJsJqN9VFYqlWWqzeOhbGlG10s9R9aw6qZG5EH3Us60pqz2CFGMHdb7EtVloUAFAEeJvqis7GFUSaEruyIK/CrTXMQb+RlRUyKXEMSTJIU6gcp51pitKsI3djnFWBcRkOzAg++npzcJKS5FdWmqkHB7PBROGvd33ZKOIgMSVJA/FoQT1+laFUpa9eV6P8ARm7Kt2ehtPlfKfnv75C4CHAbNauEaFmlS2xi5zMaxAOg6QNO8bq0o9yz6f0ybTSleMu948pfXa/oY4xi8lyycwfu9bkESIIJPXadBrtU8NS1wmrWvsLxdbs6kG3fTvt7/I8xeES8qhtVDLcHmVMj1FcxNxfedhpSXcKLPZtbV0XULsFkqjPASe8JCaag942h8tdKs1qa+J2fW33/AHkq0Sg/gV10v9v1gTY7BDDPhjlvXbD3ES2lpZKMxtt3t08lBtyTrOY6DmrTTaZZFqSTRevdq7q3rgOHU4e1iUwrXBdOfPdW0VfuskFJuqD4p5xS2JuUcP8A+Idq4bCgZC63HvaMe7FoHQEqA2vPlV9OjdXfTGbFFWs00l1zi+5VwnbxLGGXEX7TIbmJyXgTmdVay1224Cr4pQIMoAgselLVk5tLklhE0aap3e7bu376FjtP2jIs4YX7Ud/L3Ft3pFuxKqbjOFh/bSVGmrQTlmqbO+C+65nqYrKWhQAUAFABQAUAFAGl23mEU0JuLuhJwUlZiXiOCRLqtAK3syOG1BIUsCOh0PxrQq9RrfYq/wAemuW/U5t7hev1/wB60aURqZ0h2A/ZuD/IT+UVgqfMy+Ow+JpBgJoAMw60AZmgBdx6O7CsYVrltWPKC4mfI7e+rKXzCz2PR1aKFABQBpdtBhDAEdDTRk4u6FlCM1aSuQHh1qMvdrHKANPQ9as/yKt76mVf41HTp0r0FNniXcu1pmzKhO+6LAIP8Qg/L3Vslw/bQVSKs39X+DBDiuwm6UndL1S38177h2zZkJQjUeE8qwJaZWkjpt6oXg/A8J23xvEba2lwQU5WDXEAJZUtQxliwzIwgQAGMkDnV8oKTuufvy8DPTm4rTKyty979b/Qu4LAYK4n6abpvzcW63du3ctiFCoHFkMRnELAMwQOYqunTlUloiW1qsaUHORthOBYZrK2LsgDvLagOYyXQAyEgbkeHXUwa0V6csaFhL3+zLw9ZZ1vLfl75d9ibCcA4ct0mwiK9phc7u0cqZ7S3EzZF8JMXGVo/hB2FY7s3YF+C7K4K/aVnw5K5WtpbveLulLMYthvYEnQjYZQNAKqnOSdkOoqw/wt+2MttXBKiACZYhdCT123qpp7jFqoJFeJ4myXipQm0qqSVBLAsWgwN10j1irI07xutxXKzK2O4jibQDm0MjgkAgygBEB2GmZgduR61YqUXzF1Meis5YFABQAUAK+0hIs5xvbZXE7GDEHpoTVlL5rCy2ObJH/GH+1brlB0R2A/ZuD/ACE/lrBU+Zl8dg4zhyzXvCxDW7Y0B1+0Mge6ng7JESW5WxWHuRfVlZsqW0UwTnUOSDoNTB1HlTJrDXeQ08m2Kw8i8bVtltkWwFyFZcPJYJAO0CY5VCe13nINb2N8cLhxBvi2xWyyoN9V1DwsS05tx+GiNtOm+4O97j+/ZV1KuAyncHaqE2ndDlHBYu7YuWsPlFxHJyPPiVQCSGHONIPStMZKSuVtWPSUEiXj+GvM9p7BINsO0ZoVjCxbfyYZhMGDB5ayiGefwNnHB7XhupNq1bcnI2QDuMxkyM8d9J8W3pLYINv0jG23uHKR31xVXNlPiuG6srtItxacjoH1NGAJblvG3bjoysLZJIYpaP3b/hBK7ZhZ3B9o6nWGjNxzF2EnTjPEkn4iu5xTFWrmVGdmIbvUXuzkIe0BlME5irP7UkkGNgavX/dh7/6+m5nlbh1dbfXn9didsfiHsZ7zanKjW3W2N7SSY9rOb0roSNdudJoqU8pNe+4s7SjVxdPx/o2HBUw7i3hrYICs6W5VUR8wi5AEE76mToK1UqkZU25fDmzaW6tlf6MNalJVUo3m7XSbSSaeHt97sv8AD7eZxm1KwXO32gEnTfc+Ww3AqutLTB22e3hy95LaEdU1q3W//wCrZ+vh5orjgV7uls57Zt2vZBUzcAuKwW4eQKjKYnMTJ08NYrnQseX4XwxMULo8SOl24sXbZBAFs2x3YzSbKuVZf8A2I0WctJKVxm/Zq5Dfagk5pkHUNczxJnl4diPI7UnaLoNpHPCMKbNhLbsCUEFuUSeu2lVyd3dDLCDhN0XcSblvW2trIXgwzFwQFPMAA6+Yq6CcY5EbuxxjcOLlt0IkMpHxFMiBRwe/nsoTvEN/iXQg+cis81aTLIu6LlKSFABQAs7RfqQOTXLan0Linp7iy2Oa8/8AiroWM50R2A/ZuD/IT+UVz6nzM0R2H9IMFABQAUAFACw4oW8S1y4twgIFtZELA5tWmPvSB7hV9O2krluOMFxa1dOVHGYCSpBDAaalTrzFPYi5NisWlsZnYKNJJ5SQJPQSRJ2FAM8pY7XXIgorEKWDF1XMNw4BP6uCBm2nmKbSRclHa4k+xbiAQS50JYKWYRKoASSxEQNCZqLBc2ftVcCM/dJlDBM2fwz4/HmaALZCjKZ1zj3lguekwdzOivlyl1DEaSJEwSN4qCSLiHD1uA/dY/eHlyPUVdRrypvquhRX4eNVdH1/fUVW7VyxcEm34toB1EqGGp6QRvrWxyhXg0r4/tv6YIwqcPUV2s/y/wDC1gpa8xBjKzSDOoMe4DpESOtU1bRpJeHv9l9G8qzfRv097W5DesR0BD2hAW7h7pJAUurEGNChInqJXah5i0RzMcN4it6YDKywSrbgMJU6aEEa1RODiOnc14vqqW5gXnFtm6KZkepjL76akshLYfogAAAgAQB0Aq0U2oA89w/9ZiCvsG6Yn8QAD6dM1V1eRMS/VQ4UAFACrjqibJOv2m3/AENB9xE1ZT5iy5HNX+at5nOi+wH7Nwf5Cfy1z6nzM0R2H9IMFABQAUAFAGtxoBPQE/ChARdnsMO7F94Ny8AzMREAgQi9FGnrWpq2EVd5Le4NYuYpMUQTetIbYhzAViSQUmJ1O/8AQUXxYLDKBMaTHy/2qCQyjoOnu6UAZyjaNKAM0AaXrmVWaCcoJgbmBsPOmjHVJIWctMXLewhOON11YqEVTCk+IEsJkkaRtpvBnQV0exVKLindvfl75nK/yHWmpNWS2e+/tY357DHhWCa3mnKJiAmi6dAdR6Say8RVVS1r+e5s4WhKkmnby29OXqxhWY1i7juCN20VWMykMs7Eg6ieUiR76lEMT9w1g4VrgAJTubhkQCNUk+4j31E1dMI4ZtxW+LgFm0Q91mBEGcmVgc7RsARVdOLvdjSeLHphVhBmgBDhRlvYhOWcP/nUEj5fOq6q2ZMS5VQ4UAU+I4xkyKihmckCTA0BOpg9KaMU9yGyizNfZCUdFtAscwIPeEEBR1AE67ainxFb7i7nN8+ZreUHRfYD9m4P8hP5RXOqfMzRHYf0gwUAFABQAUAYYToedACm3h7j27uDUxkyNbcHVVLghfED4lCmJnYVqi7q5U1yIU7OX1Mo4VlVEVw7AuBduM9y4o0Lsj6zMtJEU10RYj4hhbyZsTiX7u1aWbmW45YW1FgvBQTr3dwwOo5mgCTsqt+41nEC5nsPb0Od/EpVcpKN96QZMA67nkMEOOP427b7oWQCzswPhzGFRm0BuINwNZpUSxbhe2SvkC2i5uKhUq3hYs1pWhmAACm4PPQyAYBnSRc1vdr4tschzZAUJiHZsmgUEzq4EAltDpqCZjByaSIlNRTbKPBceL9osxVFi3cC94QftFFwplMjflvsJrpRk9Vkm+V9Pda5yZQWi7aSve2rvvboev4c8pB3U5dd+onzgisFeNp365Olw8rws+WPfkWqpLzBNSRexSLLfNy2yhrYABkaFjMgemmo5mrZ09EU3u/sU06vaTklsrZ78/bBNgsDbtKFtoFAEaDUx1O5PmaqbuXWLFQSFACLito2ryXVJi84t3FPs+ycrg8joB51EknEFhlus5YFAC3Hrnv2UmAua6evhgAT0ljPpTxxFvyFe6L972W9D9KRDHLGbz+VdQynRfYD9m4P8hP5RXOqfMzRHYf0gwUAFABQAUAFACW7jmw/6Y9tA7ZrMIfvF4T2h8h1HnWmGYoqluS4ftaGe7FsuiDMhUiWtqsu5zEDRtABqfjDaSLli32lV4UWXPeFltg5PHlZ1Y6t4RCEw0SI56UWJuQYHtWjZB3bBXdFWI8KutrLmAOmtyNNPD7qLEXH+Kwlu4ALiK4BkBlBAPUTUEmi8OtBs4tW85jxZFnSI1ieQ+AouAk4v2WF7FWrpa2LFtGW5Z7pftD90l9wF6eXnVlOrKHy8yqrShP5uXkScAwloF0XKRGRYAjKpYQI3gR8q18S5JKSVub8cGHhIwk5RbvyXhd/wtWyyH+JQA675lHNTO/tR8D5ElGpHu5dz9/waLnTferXXVdV9bejN8RdF05QZTKCYO+adGjUQOXn5UlKHZq7Wb+7D1Zqq9Kfw29b9SN7XszLxCgQNB1Pp1q2L3tjmVyjtfPIqjillHZVuIr2/aQkCQBMRygSZ/pSzSatP/Q0G070+WLdfebPqOxi008QEjNqYManY+h+B6VhlFxdmb4yUldEwpRjNAFTiuFW5adGEgqfcQJB9QdalYIYu4XdLWbbHcopPrFZ5q0mWLYtUpIuxfhxFlt84a3HMbPm9PCZ91PHMWhXuXr3st6H6UiGOWM38XyrqGU6L7Afs3B/kJ/LXOqfMzRHYf0gxFir2RC0Tl1PpVlGn2k1C9rlVap2cHO2xKDVZaFABQAUAULNhRiwAoi6hdwdi1tkyvH4gT9KvptuJXLcaPwmwQAbNsgRAyCBExGnKT8TT3INOIcHtXUyEBdZlQv4s2zKQRm12313ouFhVwLs+yG4MSmHe2jj9Fyp4ltqFC5yRq4yrr5e4S30Cw4xuNKsLaCbjREjwgayxPlG3oOdXUqSa1yfwr18PMz1q7jJU4K8n6W6+X6XMu1nNJHiLQdWU7MCDHQ00JOMlJchKkFOLi+Ym7Q3Da7tlUakLPQggr8gw99b+CSqKUW+/wDf4Odx8uycJJc7ee6/Iwx6iFce1IHqCdj9fdWag3dx5GviErKXPH1Fb33a6UUQEIMj73hkofX+lbdMYw1N7/vcwOc5VdEVhZ8cbFzC3SyyRH+3Wq5xSdkXU5OUbtHnMbwe41u9ZDWwrXHbMwOci+fZjbRifEDMLEc6VxbljZ/dIZSUVndP1Tfv0KXaPhlqwty5fu20w8tkDKxW33i3kgKoMktdDba5TVdSDtqRdTmk9L8vf1LeH4Vd8dxQty3mA7tZhwrKQIgHIBK65jK6CDlqmcXG1+auWwmp3tydvQnwnZm+1pA7KjFVzHM2cDuwpw8j7gPjmZn40lx7El/gtxL9sImZO8VlaSFtILzuyjXmpCkaTAAnYCYWLvAxFrJzts6EdMrGPlFZ6vzFkdhhSDC/jds933imHszcXSZgGVPkRT03m3UWRbLyk9Vn4il5knLWbzFdMzHRfYD9m4P8hP5RXOqfMzRHYf0gxrdQMpU7EEH300JOElJcsiTgpxcXzVilbvPbADoSqiMykHQcyDtpWuVKlWlenKzfJ48kzHCrVoxtUjdL/wCSz5tf7LytIBGx1rG007M3Jpq6AmoSvhA3bLNMPeDqGEwdROhjrFPUpunJxfISlUVSCmtn1KXFD3bW8QNrJOcdUeAfhoY8qak82Jn1PRIwIBGoOoNWEFTH4ko1qNmeD5jKxgepA+XWr6NNSUr8l+UZq9VwlC3N59Ga8HYtbDkybhL77AnRfKBAjyqeJSVTSuWPfiHCNyp65bu79dl5LBrh/wDzFzNvlGX/AAjcfE1M/wD+MbdXfxFp/wDuJ36K3h/sttfUBmzCFnMekbz51SoSbStvsaHUik5XwtyHGYkqLZGzuqnTWGB5b9PTXpT06alqT5JldWq46WubS9ffluUeKXFulU318M832kdQupMVp4eMqSc37X9MvEyjWah3/X+ZZc4gQAg/in3KCZ+nxqjh1dt+8mjiHZJd/wBhXwa7rmcBRmdvKPCJPvrXxUfh0xzt+TDwcs6pYzJ/YuYceEaRzjoCZilluXQ+UkI+VQNYp8YwouWmUgHnB2MA+R+lPTaUlcqrxbg7bjbBIoRQmXLGmX2fd5VgquTm9V79+5voqKgtNrd2xPVZaFAHmVx1u3dxWZhlV1YkawXUCNOeYbUlSLbViYu1xjZuqwDKQwOxBkVS1bcYUcSxd5zctWUUgEIzZtQHGvhMbDz3q2MYqzYrbeEM1tZLeWZypEnyETVd7u4xy5PmK6ZmOhOwzP8A2ZhIA/UW4jfYcorI1Tc8sZuoo4S9+R6HDsxBzddNIqqqoprSPScmnqJarLShi8T4svImPVtPCTyGupHnXR4bh0o9rLln+/TBzeJ4hufZLZ488Y8M5LllMqgdKw1J65uXU304aIKPQr8RuDu7g8oMbjNp/Wav4SEu2g++/oZ+MnHsZrus7d+CHhY8TnRgY8Q6gDwqZ1XpoPfNW8ZZQgtnnHdfd9/X8FPBZnOSysZ77bLu6fm5Fxm8r2WIg926kqdmyMCUI6Go4WnKFVJr5k/qhuKqRnSbi/lkvWLTsenUVWakK+NMGsh1AbIwYGYKw0EjbUVr4VONXRLF164MPGOMqOuObNNPpndFnhNvLZTqRmPq3iPzNVcRK9R+npgv4WOmlHvz65KF+5cRnYeN1BVdOqgrIHnoT9K0wjCcEtlu/WzMlSVSE5SWWrpel1+g4bghcUB5NtPCqkRnP3rjjnLSBy3Os1Faq6b+H5nu+nRLyDh6CqRtPMVhLr1k/O9uXPmacWxJN9La/dnxbQSN5g8p5dabh6aVKU5c/sLxVWTrxpx5c+jt+hVZBU94Wg8j+FNvDJicpBgwZM7aHZK0loS/r7+6/wBDBC8X2jefstscr2ez5523fWpaHYySOmgB1gA/MnesVlH4YnTTc/il/oBh1kGPZ0A5ddutTrZHZxuiWlHCgDFAEvC4CZREIxWByEyB8CKz8TfXd87F3C2VPSuTaLc1QaRV2p4q2Gwt29btPduKv2dtFZiznQCFE5Z1J6A1KVyGeY4befFsGNo2hc7u/cS4rK6svhZApAPtKTJ5EHnUTajnyCORlj8PctOHwy/rWyusHICdrhA2jn1quLUlaQzTWxPwrCvbswyr3pJLFeZJOsncxReMpq+xElJQdtyabmVpjb72nLcQKefZXVvp/WVQ7bn9cfZHL+v8Fashg6N7Afs3B/kJ/KKwVPmZfHYf0gxC90k5UgnmeS+vU+VaqPD6vinhff31M1Wvb4YZf299Clj8KORYZADM7sWkE9dcxjzFdDtFFqNlnHlbl9Ec6dK6ck38Kv4u91frzdti3hsVmJUiCADvuGEzXMrUNC1J3V2vRnSo8R2j0tWdk/VC3EqxZmVZXNmYTvlBA1/DImNfrXRp6FCMZO0rWXm/vZ2ObV1ucpRjeOq7Xgrel1cYYaEQknQEyf8ADp/SsfFKVStpXdbzybuGcadFyk+t/LH4FParCqVS4IBDiW8iDBb3wJ5TWj/jq0oz0N46ff35mb/kqEZQ1xWev29+Q+XiTNbYhYYQBJESTlnTo3Lnp1qXw6jNJvHt/YdcVKVNtKz9r6MoKJsKhOsO1wA6TJ1nnzIHM61p/wDuckuiRk3oKDfVyt4/78dyxaJRyLJBGUJ4laF7vSJ0BG+3OqnHXH/s3u3i2bl0W4TfZPFksp404995YVTJZjLHfpAmAPjUYSstizLep7kWGRrZJHj8IVZMZQJ5Aa76n5VNRRmrbZu+8SlqptvfCS5Wt5er+hDfw0ZmLKWaIzDwz8ZjlE1ZCW0UnZdNyqdPeTau+u1/fK5WF9fw53Y5tRoDowy6SRMHrVul9bL2slWuPS73zsueMbDHCjwyRBbVh59fKqJ72NVP5b2s3uTUg4UAV8fh+8tvbzFc6lZG4BEGPOKGSKBwK4vs3yFAgDxCRmk54aSxG7TJPSo0hcocB4bcbvLa4i4C83A2oHiyA6KwnrqPvnXTRuLouCUm78u/mVcDxMZtxStzxty7/wCedxu3Zy/nDfpTAjLr45IVywB8cbHKQIBgE1hudGxZ4fwu9bxEm47WlBjNcYkkiMsE6jcknWYjoC5Nja9rjHn7tlI/6mefoKqq/Kho7lqqRwoA0vey3ofpQgOWI8hXUMp0P2CDnhuD2Udwmu5PhHLQD51WuHg3qlkSVae0cfUf/o4O5Y++B8BpV0YQjtFFLcpbyfvwJVUAQBA8qdu4JJYRUxuHkMdTzKiNYHKefv5U0Lak+fUqqxehrdb2xkqtgnd85CyoULOkkEn1AII0ogowg6abs7/VL7CzjKpUVRpXSX0b+jusGTZLOUg7gsw8iW085IA32mhR06ZdE7edkDvJyg+bV/K7/NvqGOsudBIQMSehBjcjXQljt06VEIxU3O13ZeN1+8e2FXW4qCdld+Fn+m37RDxXGIlkC9cRUvfZqHBzMzaBEC+0x5QOXwq7GnGevK9+8F3aVZw0q1u/f6ety5gcGwtoLhOZQAdfwkka/XrFXXUcLPeJpcrOWNrpepctWlUQoAG0Dy0qHJt3Y8YRirJGtx1tqSYAAJj01MChJyZEpRpxu8Ihu44BsuVj5j/p/wDkKdU7q9/ef0VyrKMrWfu37Iu9a6gYKYkyAdxGhmRoDv6U1lCVriapVIJpe/oFrAEnNcaZEED/AAkHU+p+VDqpK0UEaDbvN+7W/Jaw+GCTHMz6eQ8gKrlNy3LoU1C9iakHCgAoAKACgCgyD7IIcrm6VlSASmsz5ZVAnyFPd/E5K6038/b+5S0vgUXZ6rY6Z38kvRD+uadUKAPN8btsb7BJDNZWIMezd11kciedRK1k2CIEw98Llk6xBz7QXMHWZIKjnt5Ul4k2ZG2BxAgBzzB8Z2ZUE6k6jxH19anVALMsYe1eDMXMqUyxmmCqjWPM5vlStxtglXOao8hXQM50b2B/ZuD/ACLf8op1sUS3JeINjBcY2lVrekAlQdABz6lid9O7/iqHe5K02Mu+MKXPDbDgju8pHiAIJnNIEgEa7Zh0qckKxFbuY4AyiMczEarsSSo0YaAeE6SIB8WtR8QYJ1fFlXlUDApkIjUTLGCdo0gwfrRkMEC3sdMd2gkbkqQpgaABgTqD8RUfET8JawoxTTnKJqI8M6Aa5YbmdJY8hprTZIwYxGFCFHIN1wZLOJYdMgAyprHsgaVZTgpXuU1ako2svH342JLOJuwJSTAmAdzG06c/dFWShC+GUwqVbK68ffuwLhrpklyCZG4iCX6DzX4UOcFsveP6Cp1Xe795/aJmwQIXMSYEHzjn1Hupe0tsWOimlqZY7oTMCetV3drFulXvY3qCQoAKACgAoAKAEeM4gRfZWvd3lNvu7YQMboc6nUZjrK+EjLGY6UreR7YKSdqmIWEQlioOVyQmcEnP4ZHdwA23trtUag0ohLXb19U73uWwt1bl02oPeqvhYP8AhnfKdYnQ70z1TWm4iUKb1299T13HMabdvwfrLhCW9J8RBM+gAJ16ViRuYqtYa7ZfvUJvM0i6GYLm2ykD2RERGm9Iqie5LjbYjuY5mu2ndQjo5suoadLiB1IMCdQPiaaSvHBCwxxWYtCgDS97Leh+lCA5Yy/w/OuoZTo3sD+zcH+Rb/lFOtiiW4/qRQoAKACgCnh+IK3VdA2sbNoNidfI1bKk4lEOIjLu5+vgWFvqYhhrEa9dvjB+FI4tci1Ti9ma3MSikgsAQJI8gJ+mtSoSeUiHUhF2bNHxgCo0E5/ZGk6gnUkxsOtSqbu10FdZKKlbfbbxNrWLRgusZhIB3j/gPwqHTkr9xMasJJZ3MDG24nOsTEz5T9Nans53tYO2p2vdGXxiAHxDRc3uAn6R8ahU5Pl3A6sFfPK5MKUsM1ABQAUAFABQB5DE8bvW793xyitcGTwkhVtBlYqLcqub75YgyBGshNTTLNKsbWe1FwW0zFC2W6Xze0e7Z1Urk8MtAOUA6EmYGpqI0lvgfErt9QjQfDdDOYlirZFICeEAg5tzpETM00JZQlSN4tdRpxu/KWbkHJbug3eq+EjXyBImORmstSDi2jVSqKST9e4uViNJAcFb7zvcozxGbnH/ADnU6naxFle5PUEhQBpe9lvQ/ShAcsZfL511DKdG9gf2bg/yLf8AKKdbFEtx/UimGYDUmB51O4NpbgrA7EH0otYE09jW6mZSJiQRI86E7O5EldNFNeGgfeM6TAUAhQYEAec+oFXds+n3KFwyXPpyXK/7NsLgcrTyVQq+4HxHTfUj09aidXUrdXcKdDTK/RJLy5+OTa5gQS0sYaTGmhZcpPU6fWoVS1se9xnRTvnf8qxtisLnKmYyzyB39RvUQnpuNUpa2s7eH5Ihwtep2AG0iFygyR0+dN28vfjcr/xo9fdrGuKwBPsGJBBPQFVWAI6CphVS+b3zIqUG/ldvxhLGO42bhqySWOsiNNmI0+UelR2ztZIl8PG92/bt+rF6apNAUAFABQAUAFABNABNAGr3QNyB6mpSb2Ickt2Q4hRB5rcUo3QhhAPuJ+BNFr78s/tEN2yueP0/I1wDzbXyABHQjQj41zeJhoqyXffyZt4WeujF91n4rDLFUGgKACgDS97Leh+lCA5YjyNdQynRXYG8v9m4PxD9Rb5j8Ip1sUS3H3fL+JfiKkgjxBRlILD3EctaaMrO4k4alZkWByKshh4oYyw5601SV3boJRgoxuueSz3y/iX4iqy4O+X8S/EUAHfL+JfiKADvl/EvxFAB3y/iX4igA75fxL8RQAd8v4l+IoAr49lKHxjwydx0PPl609OVpFVaN4+BJhyqiM6n3gfKaiUru40IaVYk75fxL8RSjh3y/iX4igA75fxL8RQAd8v4l+IoAO+X8S/EUAHfL+JfiKADvl/EvxFAFbGBDDZxIIGjAbmJ+ZqyErYKatNPPh9/6T50iMyxERI2pL5uW6VaxTsXFtswZ1hjKmfd4j1OnrVPFw7RKUVlbk8K+ybjN4bx/X1+5afFIIll1MDUb1zlBu9uR0JSStfmbd8v4l+IpbDB3y/iX4iiwGt68uVvEux5jpUpEHLcf4q6RmKWI9pvU/WqmOR1AGaABt6CWYoICgAoAKACgAoAKAMPsfSpRKNqggxQAUAFABQAUAFABQBhv9vrUkozUEAdj6GglGW2+H1FWsRBTChQAGoJIKUk/9k=">
            <a:hlinkClick r:id="rId1"/>
          </p:cNvPr>
          <p:cNvSpPr>
            <a:spLocks noChangeAspect="1" noChangeArrowheads="1"/>
          </p:cNvSpPr>
          <p:nvPr/>
        </p:nvSpPr>
        <p:spPr bwMode="auto">
          <a:xfrm>
            <a:off x="53975" y="-1210866"/>
            <a:ext cx="3143250" cy="252888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16396" name="Picture 12" descr="https://encrypted-tbn1.gstatic.com/images?q=tbn:ANd9GcSn9z4pHYKVz8lsJ1EdM1V2l4-Am6pYfYyiyyqnrEEJOBvfIG_r">
            <a:hlinkClick r:id="rId2"/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38800" y="133350"/>
            <a:ext cx="2819400" cy="2555972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371600" y="4564618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 smtClean="0"/>
              <a:t>Karim</a:t>
            </a:r>
            <a:r>
              <a:rPr lang="en-US" dirty="0" smtClean="0"/>
              <a:t> and Mimura (2008)</a:t>
            </a:r>
            <a:endParaRPr lang="en-US" dirty="0"/>
          </a:p>
        </p:txBody>
      </p:sp>
      <p:pic>
        <p:nvPicPr>
          <p:cNvPr id="12" name="Picture 4" descr="http://static.panoramio.com/photos/large/62075455.jpg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38800" y="2876550"/>
            <a:ext cx="3367314" cy="2133600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6172200" y="448841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Alluvial plain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1026" name="Picture 2" descr="C:\Users\Administrator\Desktop\360截图20200520191314763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81000" y="471487"/>
            <a:ext cx="3743325" cy="1338263"/>
          </a:xfrm>
          <a:prstGeom prst="rect">
            <a:avLst/>
          </a:prstGeom>
          <a:noFill/>
        </p:spPr>
      </p:pic>
      <p:pic>
        <p:nvPicPr>
          <p:cNvPr id="1027" name="Picture 3" descr="C:\Users\Administrator\Desktop\360截图2020052019112518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038350"/>
            <a:ext cx="3706546" cy="2590800"/>
          </a:xfrm>
          <a:prstGeom prst="rect">
            <a:avLst/>
          </a:prstGeom>
          <a:noFill/>
        </p:spPr>
      </p:pic>
      <p:pic>
        <p:nvPicPr>
          <p:cNvPr id="1028" name="Picture 4" descr="C:\Users\Administrator\Desktop\360截图2020052019142203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988996"/>
            <a:ext cx="4236506" cy="31829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fao.org/docrep/010/ag124e/AG124E08.gif">
            <a:hlinkClick r:id="rId1"/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114550"/>
            <a:ext cx="4648200" cy="2349734"/>
          </a:xfrm>
          <a:prstGeom prst="rect">
            <a:avLst/>
          </a:prstGeom>
          <a:noFill/>
        </p:spPr>
      </p:pic>
      <p:sp>
        <p:nvSpPr>
          <p:cNvPr id="6" name="Subtitle 5"/>
          <p:cNvSpPr txBox="1"/>
          <p:nvPr/>
        </p:nvSpPr>
        <p:spPr>
          <a:xfrm>
            <a:off x="76200" y="590550"/>
            <a:ext cx="6248400" cy="18859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q"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Himalayan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range to the north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q"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Low land: Low-lying deltaic plain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2000" dirty="0" smtClean="0">
                <a:solidFill>
                  <a:srgbClr val="FFFF00"/>
                </a:solidFill>
              </a:rPr>
              <a:t> W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ide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rivers &amp; large estuaries</a:t>
            </a:r>
            <a:endParaRPr kumimoji="0" lang="en-US" sz="2000" b="0" i="0" u="none" strike="noStrike" kern="1200" cap="none" spc="0" normalizeH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2000" baseline="0" dirty="0" smtClean="0">
                <a:solidFill>
                  <a:srgbClr val="FFFF00"/>
                </a:solidFill>
              </a:rPr>
              <a:t> </a:t>
            </a:r>
            <a:r>
              <a:rPr lang="en-US" sz="2000" dirty="0" smtClean="0">
                <a:solidFill>
                  <a:srgbClr val="FFFF00"/>
                </a:solidFill>
              </a:rPr>
              <a:t>Allow sea surges to intrude further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4564380"/>
            <a:ext cx="3726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Karim</a:t>
            </a:r>
            <a:r>
              <a:rPr lang="en-US" dirty="0" smtClean="0"/>
              <a:t> and Mimura (2008)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1026" name="Picture 2" descr="C:\Users\Administrator\Desktop\Bangladesh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1793875"/>
            <a:ext cx="3954810" cy="3292475"/>
          </a:xfrm>
          <a:prstGeom prst="rect">
            <a:avLst/>
          </a:prstGeom>
          <a:noFill/>
        </p:spPr>
      </p:pic>
      <p:pic>
        <p:nvPicPr>
          <p:cNvPr id="1027" name="Picture 3" descr="C:\Users\Administrator\Desktop\n2f5yxxe2q27cjuygrvtscbemx6jc3sachvcdoaizecfr3dnitcq_3_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00650" y="185656"/>
            <a:ext cx="3562350" cy="200509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38150"/>
            <a:ext cx="7776000" cy="857250"/>
          </a:xfrm>
        </p:spPr>
        <p:txBody>
          <a:bodyPr/>
          <a:lstStyle/>
          <a:p>
            <a:pPr algn="l"/>
            <a:r>
              <a:rPr lang="en-US" dirty="0" smtClean="0"/>
              <a:t>Sea level rise ……..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1000" y="1276350"/>
            <a:ext cx="8229600" cy="24987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2400" dirty="0" smtClean="0"/>
              <a:t>P</a:t>
            </a:r>
            <a:r>
              <a:rPr lang="en-US" sz="2400" dirty="0" smtClean="0"/>
              <a:t>rofound throughout the west coast, which is low lying &amp; the land subsiding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2400" dirty="0" smtClean="0"/>
              <a:t>C</a:t>
            </a:r>
            <a:r>
              <a:rPr lang="en-US" sz="2400" dirty="0" smtClean="0"/>
              <a:t>auses decrease of shelter heights with respect to mean sea level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2400" dirty="0" smtClean="0"/>
              <a:t>C</a:t>
            </a:r>
            <a:r>
              <a:rPr lang="en-US" sz="2400" dirty="0" smtClean="0"/>
              <a:t>auses increase flooding</a:t>
            </a:r>
            <a:endParaRPr lang="en-US" sz="2400" dirty="0"/>
          </a:p>
        </p:txBody>
      </p:sp>
      <p:pic>
        <p:nvPicPr>
          <p:cNvPr id="45057" name="Picture 1" descr="C:\Users\Administrator\Desktop\p01gkgc4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724400" y="2724150"/>
            <a:ext cx="4064000" cy="228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62000" y="1704594"/>
            <a:ext cx="7848600" cy="1705356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66FFFF"/>
                </a:solidFill>
              </a:rPr>
              <a:t>Impact of climate change and sea level rise ..</a:t>
            </a:r>
            <a:endParaRPr lang="en-US" sz="3600" dirty="0">
              <a:solidFill>
                <a:srgbClr val="66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3000" y="590550"/>
            <a:ext cx="7162800" cy="4248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Text Placeholder 4"/>
          <p:cNvSpPr>
            <a:spLocks noGrp="1"/>
          </p:cNvSpPr>
          <p:nvPr>
            <p:ph type="body" orient="vert" idx="1"/>
          </p:nvPr>
        </p:nvSpPr>
        <p:spPr>
          <a:xfrm rot="16200000">
            <a:off x="2416175" y="-1906905"/>
            <a:ext cx="4282440" cy="852424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en-US" sz="2400" dirty="0" smtClean="0"/>
              <a:t> This paper determined the impact of sea surface T and sea-level rise on cyclonic storm surges by using some hydrodynamic model</a:t>
            </a:r>
            <a:endParaRPr lang="en-US" sz="2400" dirty="0" smtClean="0"/>
          </a:p>
          <a:p>
            <a:endParaRPr lang="en-US" sz="2400" dirty="0" smtClean="0"/>
          </a:p>
          <a:p>
            <a:pPr>
              <a:buFont typeface="Wingdings" panose="05000000000000000000" pitchFamily="2" charset="2"/>
              <a:buChar char="p"/>
            </a:pPr>
            <a:r>
              <a:rPr lang="en-US" sz="2400" dirty="0" smtClean="0"/>
              <a:t>2°C SST rise &amp; 0.3 m SLR will cause 15.3% increase flood risk</a:t>
            </a:r>
            <a:endParaRPr lang="en-US" sz="2400" dirty="0" smtClean="0"/>
          </a:p>
          <a:p>
            <a:endParaRPr lang="en-US" sz="2400" dirty="0" smtClean="0"/>
          </a:p>
          <a:p>
            <a:pPr>
              <a:buFont typeface="Wingdings" panose="05000000000000000000" pitchFamily="2" charset="2"/>
              <a:buChar char="p"/>
            </a:pPr>
            <a:r>
              <a:rPr lang="en-US" sz="2400" dirty="0" smtClean="0"/>
              <a:t> They predicted 1.26 times more of high-risk zone (HRZ) than the currently HRZ</a:t>
            </a:r>
            <a:endParaRPr lang="en-US" sz="2400" dirty="0" smtClean="0"/>
          </a:p>
          <a:p>
            <a:endParaRPr lang="en-US" sz="2400" dirty="0" smtClean="0"/>
          </a:p>
          <a:p>
            <a:pPr>
              <a:buFont typeface="Wingdings" panose="05000000000000000000" pitchFamily="2" charset="2"/>
              <a:buChar char="p"/>
            </a:pPr>
            <a:r>
              <a:rPr lang="en-US" sz="2400" dirty="0" smtClean="0"/>
              <a:t> They estimated 320 additional shelters are needed</a:t>
            </a:r>
            <a:endParaRPr lang="en-US" sz="24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76" y="1590294"/>
            <a:ext cx="8040624" cy="2048256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66FFFF"/>
                </a:solidFill>
              </a:rPr>
              <a:t>Floods  -  effects on human health …..</a:t>
            </a:r>
            <a:endParaRPr lang="en-US" sz="3600" dirty="0">
              <a:solidFill>
                <a:srgbClr val="66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3000" y="514350"/>
            <a:ext cx="7089344" cy="428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Vertical Text Placeholder 4"/>
          <p:cNvSpPr txBox="1"/>
          <p:nvPr/>
        </p:nvSpPr>
        <p:spPr>
          <a:xfrm>
            <a:off x="609600" y="514350"/>
            <a:ext cx="7903845" cy="39624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1998 flood in Bangladesh destroyed 60% of the land and affected &gt; 30 million people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This paper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studied the impact of flood on the health of the communities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lang="en-US" sz="2000" dirty="0" smtClean="0"/>
              <a:t>Health condition worsened </a:t>
            </a:r>
            <a:endParaRPr lang="en-US" sz="2000" dirty="0" smtClean="0"/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lang="en-US" sz="2000" dirty="0" smtClean="0"/>
              <a:t>They identified some most common conditions as: fever, respiratory problems,  diarrhea, skin problems</a:t>
            </a:r>
            <a:endParaRPr lang="en-US" sz="2000" dirty="0" smtClean="0"/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lang="en-US" sz="2000" dirty="0" smtClean="0"/>
              <a:t> </a:t>
            </a:r>
            <a:r>
              <a:rPr lang="en-US" altLang="zh-CN" sz="2000" dirty="0" smtClean="0"/>
              <a:t>The most prevalent condition was fever (63.6%), followed by respiratory problems (46.8%), </a:t>
            </a:r>
            <a:r>
              <a:rPr lang="en-US" altLang="zh-CN" sz="2000" dirty="0" err="1" smtClean="0"/>
              <a:t>diarrhoea</a:t>
            </a:r>
            <a:r>
              <a:rPr lang="en-US" altLang="zh-CN" sz="2000" dirty="0" smtClean="0"/>
              <a:t> (44.3%), skin problems (41.0%).</a:t>
            </a:r>
            <a:endParaRPr lang="en-US" altLang="zh-CN" sz="2000" dirty="0" smtClean="0"/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lang="en-US" altLang="zh-CN" sz="2000" dirty="0" smtClean="0"/>
              <a:t>75% of the water was contaminated, but only about 1% to 6.7% of the respondents treated water before drinking</a:t>
            </a:r>
            <a:r>
              <a:rPr lang="en-US" sz="2000" dirty="0" smtClean="0"/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Vertical Text Placeholder 4"/>
          <p:cNvSpPr txBox="1"/>
          <p:nvPr/>
        </p:nvSpPr>
        <p:spPr>
          <a:xfrm>
            <a:off x="609600" y="758190"/>
            <a:ext cx="7933690" cy="358521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Factors associated with worsening diarrhea conditions: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9300" lvl="1" indent="-292100"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lang="en-US" sz="2800" dirty="0" smtClean="0"/>
              <a:t>Higher number of family members</a:t>
            </a:r>
            <a:endParaRPr lang="en-US" sz="2800" dirty="0" smtClean="0"/>
          </a:p>
          <a:p>
            <a:pPr marL="749300" lvl="1" indent="-292100"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oor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economic status</a:t>
            </a:r>
            <a:endParaRPr kumimoji="0" lang="en-US" sz="28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9300" lvl="1" indent="-292100"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lang="en-US" sz="2800" dirty="0" smtClean="0"/>
              <a:t>Lower education level</a:t>
            </a:r>
            <a:endParaRPr lang="en-US" sz="2800" dirty="0" smtClean="0"/>
          </a:p>
          <a:p>
            <a:pPr marL="749300" lvl="1" indent="-292100"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lang="en-US" sz="2800" baseline="0" dirty="0" smtClean="0"/>
              <a:t>Lack of clean water; lack of water purification tablet</a:t>
            </a:r>
            <a:endParaRPr lang="en-US" sz="2800" baseline="0" dirty="0" smtClean="0"/>
          </a:p>
          <a:p>
            <a:pPr marL="749300" lvl="1" indent="-292100"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lang="en-US" sz="2800" dirty="0" smtClean="0"/>
              <a:t>Food scarcity</a:t>
            </a:r>
            <a:endParaRPr lang="en-US" sz="2800" dirty="0" smtClean="0"/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 panose="05020102010507070707"/>
              <a:buChar char=""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874776" y="1578571"/>
            <a:ext cx="8116824" cy="1450379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66FFFF"/>
                </a:solidFill>
              </a:rPr>
              <a:t>Floods  -  effects on agricultural wages …..</a:t>
            </a:r>
            <a:endParaRPr lang="en-US" sz="3600" dirty="0">
              <a:solidFill>
                <a:srgbClr val="66FFFF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3400" y="793543"/>
            <a:ext cx="8175426" cy="3911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1066800" y="2914650"/>
            <a:ext cx="6858000" cy="5143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01320" y="379730"/>
            <a:ext cx="8666480" cy="432562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en-US" sz="2800" dirty="0" smtClean="0"/>
              <a:t>  In flood months, agricultural wages decline</a:t>
            </a:r>
            <a:endParaRPr lang="en-US" sz="2800" dirty="0" smtClean="0"/>
          </a:p>
          <a:p>
            <a:pPr lvl="1"/>
            <a:r>
              <a:rPr lang="en-US" dirty="0" smtClean="0"/>
              <a:t> due to decline in consumption and employment</a:t>
            </a:r>
            <a:endParaRPr lang="en-US" dirty="0" smtClean="0"/>
          </a:p>
          <a:p>
            <a:endParaRPr lang="en-US" sz="2800" dirty="0" smtClean="0"/>
          </a:p>
          <a:p>
            <a:pPr>
              <a:buFont typeface="Wingdings" panose="05000000000000000000" pitchFamily="2" charset="2"/>
              <a:buChar char="p"/>
            </a:pPr>
            <a:r>
              <a:rPr lang="en-US" sz="2800" dirty="0" smtClean="0"/>
              <a:t>  However, over the long term, flood has positive impact on agricultural wages</a:t>
            </a:r>
            <a:endParaRPr lang="en-US" sz="2800" dirty="0" smtClean="0"/>
          </a:p>
          <a:p>
            <a:pPr lvl="1"/>
            <a:r>
              <a:rPr lang="en-US" dirty="0" smtClean="0"/>
              <a:t> above than normal harvest post-flood; increased productivity</a:t>
            </a:r>
            <a:endParaRPr lang="en-US" dirty="0" smtClean="0"/>
          </a:p>
          <a:p>
            <a:pPr lvl="1"/>
            <a:r>
              <a:rPr lang="en-US" dirty="0" smtClean="0"/>
              <a:t> increase demand for labors</a:t>
            </a:r>
            <a:endParaRPr lang="en-US" dirty="0" smtClean="0"/>
          </a:p>
          <a:p>
            <a:pPr>
              <a:buNone/>
            </a:pPr>
            <a:r>
              <a:rPr lang="en-US" sz="2800" dirty="0" smtClean="0"/>
              <a:t>	</a:t>
            </a:r>
            <a:endParaRPr lang="en-US" sz="280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90600" y="1533144"/>
            <a:ext cx="7239000" cy="1419606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66FFFF"/>
                </a:solidFill>
              </a:rPr>
              <a:t>RESPONSES  -  coastal embankment …</a:t>
            </a:r>
            <a:endParaRPr lang="en-US" sz="3600" dirty="0">
              <a:solidFill>
                <a:srgbClr val="66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23554" name="Picture 2" descr="http://progressbangladesh.com/wp-content/uploads/2013/06/bd-embankment.jpg">
            <a:hlinkClick r:id="rId1"/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21444"/>
            <a:ext cx="4762500" cy="2678906"/>
          </a:xfrm>
          <a:prstGeom prst="rect">
            <a:avLst/>
          </a:prstGeom>
          <a:noFill/>
        </p:spPr>
      </p:pic>
      <p:pic>
        <p:nvPicPr>
          <p:cNvPr id="23556" name="Picture 4" descr="http://www.vanderbilt.edu/ISEEBangladesh/_resources/embankment.jpg?ox=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57350" y="2814637"/>
            <a:ext cx="6191250" cy="2214563"/>
          </a:xfrm>
          <a:prstGeom prst="rect">
            <a:avLst/>
          </a:prstGeom>
          <a:noFill/>
        </p:spPr>
      </p:pic>
      <p:pic>
        <p:nvPicPr>
          <p:cNvPr id="23558" name="Picture 6" descr="http://static.guim.co.uk/sys-images/Environment/Pix/columnists/2009/11/30/1259579182499/Climate-change-and-rising-002.jpg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 r="26957"/>
          <a:stretch>
            <a:fillRect/>
          </a:stretch>
        </p:blipFill>
        <p:spPr bwMode="auto">
          <a:xfrm>
            <a:off x="4707836" y="114300"/>
            <a:ext cx="4359965" cy="268605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191000" y="451485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Pictures from Google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2571750"/>
            <a:ext cx="8458200" cy="3350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 smtClean="0"/>
              <a:t>Coastal embankment projects were initiated in the 1960s by the Bangladesh governments for the following purposes: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/>
              <a:t>  prevent cyclonic or storm-surge flooding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/>
              <a:t>  increase crop production by preventing intrusion of ocean water</a:t>
            </a:r>
            <a:endParaRPr lang="en-US" sz="2400" dirty="0" smtClean="0"/>
          </a:p>
          <a:p>
            <a:endParaRPr lang="en-US" sz="2400" dirty="0" smtClean="0"/>
          </a:p>
          <a:p>
            <a:pPr algn="r"/>
            <a:r>
              <a:rPr lang="en-US" sz="2400" dirty="0" err="1" smtClean="0"/>
              <a:t>Choudhury</a:t>
            </a:r>
            <a:r>
              <a:rPr lang="en-US" sz="2400" dirty="0" smtClean="0"/>
              <a:t> et al. (2004) Applied Geography 24.</a:t>
            </a:r>
            <a:endParaRPr lang="en-US" sz="2400" dirty="0"/>
          </a:p>
        </p:txBody>
      </p:sp>
      <p:pic>
        <p:nvPicPr>
          <p:cNvPr id="1026" name="Picture 2" descr="C:\Users\Administrator\Desktop\maxresdefault.jpg"/>
          <p:cNvPicPr>
            <a:picLocks noChangeAspect="1" noChangeArrowheads="1"/>
          </p:cNvPicPr>
          <p:nvPr/>
        </p:nvPicPr>
        <p:blipFill>
          <a:blip r:embed="rId1" cstate="print"/>
          <a:srcRect l="38105"/>
          <a:stretch>
            <a:fillRect/>
          </a:stretch>
        </p:blipFill>
        <p:spPr bwMode="auto">
          <a:xfrm>
            <a:off x="2667000" y="285750"/>
            <a:ext cx="3437467" cy="2362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38200" y="57150"/>
            <a:ext cx="7546575" cy="4972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Vertical Text Placeholder 4"/>
          <p:cNvSpPr txBox="1"/>
          <p:nvPr/>
        </p:nvSpPr>
        <p:spPr>
          <a:xfrm>
            <a:off x="304800" y="514350"/>
            <a:ext cx="8001000" cy="2438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Embankments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have increased the frequency of flash flooding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Building of embankments have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caused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obstruction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flow in the rivers</a:t>
            </a:r>
            <a:endParaRPr kumimoji="0" lang="en-US" sz="24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lower reaches of the rivers can</a:t>
            </a:r>
            <a:r>
              <a:rPr lang="en-US" sz="2400" dirty="0" smtClean="0"/>
              <a:t>not 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contain the runoff and silts coming </a:t>
            </a:r>
            <a:r>
              <a:rPr kumimoji="0" lang="en-US" sz="24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downstreams</a:t>
            </a:r>
            <a:endParaRPr kumimoji="0" lang="en-US" sz="24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 panose="05020102010507070707"/>
              <a:buChar char=""/>
              <a:defRPr/>
            </a:pPr>
            <a:endParaRPr lang="en-US" sz="2400" baseline="0" dirty="0" smtClean="0"/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 panose="05020102010507070707"/>
              <a:buChar char="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2" descr="C:\Users\Administrator\Desktop\maxresdefault.jpg"/>
          <p:cNvPicPr>
            <a:picLocks noChangeAspect="1" noChangeArrowheads="1"/>
          </p:cNvPicPr>
          <p:nvPr/>
        </p:nvPicPr>
        <p:blipFill>
          <a:blip r:embed="rId1" cstate="print"/>
          <a:srcRect l="39203"/>
          <a:stretch>
            <a:fillRect/>
          </a:stretch>
        </p:blipFill>
        <p:spPr bwMode="auto">
          <a:xfrm>
            <a:off x="533400" y="3043237"/>
            <a:ext cx="2235200" cy="1433513"/>
          </a:xfrm>
          <a:prstGeom prst="rect">
            <a:avLst/>
          </a:prstGeom>
          <a:noFill/>
        </p:spPr>
      </p:pic>
      <p:pic>
        <p:nvPicPr>
          <p:cNvPr id="1026" name="Picture 2" descr="C:\Users\Administrator\Desktop\parameters_hydrology_sedi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2868811"/>
            <a:ext cx="5257800" cy="191273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3400" y="209550"/>
            <a:ext cx="6858000" cy="647352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/>
              <a:t>Causes of increased flash floods 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24485" y="819150"/>
            <a:ext cx="8500110" cy="2362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en-US" sz="2000" dirty="0" smtClean="0"/>
              <a:t>Deforestation at the upstream river 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p"/>
            </a:pPr>
            <a:r>
              <a:rPr lang="en-US" sz="2000" dirty="0" smtClean="0"/>
              <a:t>Depletion of forest due to conversion of forest to shrimp cultivation ponds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p"/>
            </a:pPr>
            <a:r>
              <a:rPr lang="en-US" sz="2000" dirty="0" smtClean="0"/>
              <a:t>Deforestation causes soil erosion &amp; excess runoff 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p"/>
            </a:pPr>
            <a:r>
              <a:rPr lang="en-US" sz="2000" dirty="0" smtClean="0"/>
              <a:t>Siltation has increased river beds &amp; </a:t>
            </a:r>
            <a:r>
              <a:rPr lang="en-US" altLang="zh-CN" sz="2000" dirty="0" smtClean="0"/>
              <a:t>b</a:t>
            </a:r>
            <a:r>
              <a:rPr lang="en-US" sz="2000" dirty="0" smtClean="0"/>
              <a:t>locked channels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p"/>
            </a:pPr>
            <a:r>
              <a:rPr lang="en-US" sz="2000" dirty="0" smtClean="0"/>
              <a:t>Some rivers unable to contain the flow of water</a:t>
            </a:r>
            <a:endParaRPr lang="en-US" sz="200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1026" name="Picture 2" descr="C:\Users\Administrator\Desktop\deforest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38200" y="3103880"/>
            <a:ext cx="2976245" cy="1982470"/>
          </a:xfrm>
          <a:prstGeom prst="rect">
            <a:avLst/>
          </a:prstGeom>
          <a:noFill/>
        </p:spPr>
      </p:pic>
      <p:pic>
        <p:nvPicPr>
          <p:cNvPr id="1027" name="Picture 3" descr="C:\Users\Administrator\Desktop\siltatio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40935" y="3073400"/>
            <a:ext cx="3053715" cy="203581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30224" y="1616671"/>
            <a:ext cx="7504176" cy="1793279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66FFFF"/>
                </a:solidFill>
              </a:rPr>
              <a:t>RESPONSES  -  The Open Approach …</a:t>
            </a:r>
            <a:endParaRPr lang="en-US" sz="3600" dirty="0">
              <a:solidFill>
                <a:srgbClr val="66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 t="4009" b="2771"/>
          <a:stretch>
            <a:fillRect/>
          </a:stretch>
        </p:blipFill>
        <p:spPr bwMode="auto">
          <a:xfrm>
            <a:off x="1143000" y="209550"/>
            <a:ext cx="6950024" cy="4776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Vertical Text Placeholder 3"/>
          <p:cNvSpPr txBox="1"/>
          <p:nvPr/>
        </p:nvSpPr>
        <p:spPr>
          <a:xfrm>
            <a:off x="144145" y="71420"/>
            <a:ext cx="8728710" cy="4578350"/>
          </a:xfrm>
          <a:prstGeom prst="rect">
            <a:avLst/>
          </a:prstGeom>
        </p:spPr>
        <p:txBody>
          <a:bodyPr/>
          <a:lstStyle/>
          <a:p>
            <a:pPr marL="292100" marR="0" lvl="0" indent="-2921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 panose="05020102010507070707"/>
              <a:buNone/>
              <a:defRPr/>
            </a:pPr>
            <a:r>
              <a:rPr kumimoji="0" lang="en-US" sz="3000" b="0" i="0" u="sng" strike="noStrike" kern="1200" cap="none" spc="0" normalizeH="0" baseline="0" noProof="0" dirty="0" smtClean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Some</a:t>
            </a:r>
            <a:r>
              <a:rPr kumimoji="0" lang="en-US" sz="3000" b="0" i="0" u="sng" strike="noStrike" kern="1200" cap="none" spc="0" normalizeH="0" noProof="0" dirty="0" smtClean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problems</a:t>
            </a:r>
            <a:r>
              <a:rPr kumimoji="0" lang="en-US" sz="3000" b="0" i="0" u="sng" strike="noStrike" kern="1200" cap="none" spc="0" normalizeH="0" baseline="0" noProof="0" dirty="0" smtClean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:</a:t>
            </a:r>
            <a:endParaRPr kumimoji="0" lang="en-US" sz="3000" b="0" i="0" u="sng" strike="noStrike" kern="1200" cap="none" spc="0" normalizeH="0" baseline="0" noProof="0" dirty="0" smtClean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 panose="05020102010507070707"/>
              <a:buNone/>
              <a:defRPr/>
            </a:pPr>
            <a:endParaRPr kumimoji="0" lang="en-US" sz="3000" b="0" i="0" u="sng" strike="noStrike" kern="1200" cap="none" spc="0" normalizeH="0" baseline="0" noProof="0" dirty="0" smtClean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Blip>
                <a:blip r:embed="rId1"/>
              </a:buBlip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Global warming is causing more evaporation from  the Indian Ocean; more moisture during the monsoon; increase precipitation</a:t>
            </a:r>
            <a:endParaRPr kumimoji="0" lang="en-US" sz="3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Blip>
                <a:blip r:embed="rId1"/>
              </a:buBlip>
              <a:defRPr/>
            </a:pPr>
            <a:r>
              <a:rPr lang="en-US" sz="3000" dirty="0" smtClean="0">
                <a:latin typeface="Harrington" panose="04040505050A02020702" pitchFamily="82" charset="0"/>
              </a:rPr>
              <a:t> Global warming is also causing more snow melt from the Himalaya</a:t>
            </a:r>
            <a:endParaRPr lang="en-US" sz="3000" dirty="0" smtClean="0">
              <a:latin typeface="Harrington" panose="04040505050A02020702" pitchFamily="82" charset="0"/>
            </a:endParaRPr>
          </a:p>
          <a:p>
            <a:pPr marL="292100" lvl="0" indent="-292100">
              <a:buClr>
                <a:schemeClr val="accent1"/>
              </a:buClr>
              <a:buSzPct val="70000"/>
              <a:buBlip>
                <a:blip r:embed="rId1"/>
              </a:buBlip>
              <a:defRPr/>
            </a:pPr>
            <a:r>
              <a:rPr lang="en-US" altLang="zh-CN" sz="3000" dirty="0" smtClean="0">
                <a:latin typeface="Harrington" panose="04040505050A02020702" pitchFamily="82" charset="0"/>
              </a:rPr>
              <a:t> Global warming also causes gradual rise in sea level</a:t>
            </a:r>
            <a:endParaRPr lang="en-US" altLang="zh-CN" sz="3000" dirty="0" smtClean="0">
              <a:latin typeface="Harrington" panose="04040505050A02020702" pitchFamily="82" charset="0"/>
            </a:endParaRPr>
          </a:p>
          <a:p>
            <a:pPr marL="292100" lvl="0" indent="-292100">
              <a:buClr>
                <a:schemeClr val="accent1"/>
              </a:buClr>
              <a:buSzPct val="70000"/>
              <a:buBlip>
                <a:blip r:embed="rId1"/>
              </a:buBlip>
              <a:defRPr/>
            </a:pPr>
            <a:r>
              <a:rPr lang="en-US" altLang="zh-CN" sz="3000" dirty="0" smtClean="0">
                <a:latin typeface="Harrington" panose="04040505050A02020702" pitchFamily="82" charset="0"/>
              </a:rPr>
              <a:t> High sea level causes slow pace of recession of flood</a:t>
            </a:r>
            <a:endParaRPr lang="en-US" altLang="zh-CN" sz="3000" dirty="0" smtClean="0">
              <a:latin typeface="Harrington" panose="04040505050A02020702" pitchFamily="82" charset="0"/>
            </a:endParaRPr>
          </a:p>
          <a:p>
            <a:pPr lvl="0" indent="0">
              <a:buClr>
                <a:schemeClr val="accent1"/>
              </a:buClr>
              <a:buSzPct val="70000"/>
              <a:buNone/>
              <a:defRPr/>
            </a:pP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Vertical Text Placeholder 3"/>
          <p:cNvSpPr txBox="1"/>
          <p:nvPr/>
        </p:nvSpPr>
        <p:spPr>
          <a:xfrm>
            <a:off x="586105" y="214296"/>
            <a:ext cx="7971155" cy="3408680"/>
          </a:xfrm>
          <a:prstGeom prst="rect">
            <a:avLst/>
          </a:prstGeom>
        </p:spPr>
        <p:txBody>
          <a:bodyPr/>
          <a:lstStyle/>
          <a:p>
            <a:pPr marL="292100" lvl="0" indent="-292100">
              <a:buClr>
                <a:schemeClr val="accent1"/>
              </a:buClr>
              <a:buSzPct val="70000"/>
              <a:buBlip>
                <a:blip r:embed="rId1"/>
              </a:buBlip>
              <a:defRPr/>
            </a:pPr>
            <a:r>
              <a:rPr lang="en-US" altLang="zh-CN" sz="3000" dirty="0" smtClean="0">
                <a:latin typeface="Harrington" panose="04040505050A02020702" pitchFamily="82" charset="0"/>
              </a:rPr>
              <a:t> More deforestation and topsoil exposure in the Himalaya:</a:t>
            </a:r>
            <a:endParaRPr lang="en-US" altLang="zh-CN" sz="3000" dirty="0" smtClean="0">
              <a:latin typeface="Harrington" panose="04040505050A02020702" pitchFamily="82" charset="0"/>
            </a:endParaRPr>
          </a:p>
          <a:p>
            <a:pPr marL="749300" lvl="1" indent="-292100">
              <a:buClr>
                <a:schemeClr val="accent1"/>
              </a:buClr>
              <a:buSzPct val="70000"/>
              <a:buBlip>
                <a:blip r:embed="rId1"/>
              </a:buBlip>
            </a:pPr>
            <a:r>
              <a:rPr lang="en-US" altLang="zh-CN" sz="3000" dirty="0" smtClean="0">
                <a:latin typeface="Harrington" panose="04040505050A02020702" pitchFamily="82" charset="0"/>
              </a:rPr>
              <a:t>More erosion</a:t>
            </a:r>
            <a:endParaRPr lang="en-US" altLang="zh-CN" sz="3000" dirty="0" smtClean="0">
              <a:latin typeface="Harrington" panose="04040505050A02020702" pitchFamily="82" charset="0"/>
            </a:endParaRPr>
          </a:p>
          <a:p>
            <a:pPr marL="749300" lvl="1" indent="-292100">
              <a:buClr>
                <a:schemeClr val="accent1"/>
              </a:buClr>
              <a:buSzPct val="70000"/>
              <a:buBlip>
                <a:blip r:embed="rId1"/>
              </a:buBlip>
            </a:pPr>
            <a:r>
              <a:rPr lang="en-US" altLang="zh-CN" sz="3000" dirty="0" smtClean="0">
                <a:latin typeface="Harrington" panose="04040505050A02020702" pitchFamily="82" charset="0"/>
              </a:rPr>
              <a:t>More silt in the rivers</a:t>
            </a:r>
            <a:endParaRPr lang="en-US" altLang="zh-CN" sz="3000" dirty="0" smtClean="0">
              <a:latin typeface="Harrington" panose="04040505050A02020702" pitchFamily="82" charset="0"/>
            </a:endParaRPr>
          </a:p>
          <a:p>
            <a:pPr marL="749300" lvl="1" indent="-292100">
              <a:buClr>
                <a:schemeClr val="accent1"/>
              </a:buClr>
              <a:buSzPct val="70000"/>
              <a:buBlip>
                <a:blip r:embed="rId1"/>
              </a:buBlip>
            </a:pPr>
            <a:r>
              <a:rPr lang="en-US" altLang="zh-CN" sz="3000" dirty="0" smtClean="0">
                <a:latin typeface="Harrington" panose="04040505050A02020702" pitchFamily="82" charset="0"/>
              </a:rPr>
              <a:t>Causes rivers to become swollen: eventually riverbeds become higher than the floodplains</a:t>
            </a:r>
            <a:endParaRPr lang="en-US" altLang="zh-CN" sz="3000" dirty="0" smtClean="0">
              <a:latin typeface="Harrington" panose="04040505050A02020702" pitchFamily="82" charset="0"/>
            </a:endParaRPr>
          </a:p>
          <a:p>
            <a:pPr marL="749300" lvl="1" indent="-292100">
              <a:buClr>
                <a:schemeClr val="accent1"/>
              </a:buClr>
              <a:buSzPct val="70000"/>
              <a:buBlip>
                <a:blip r:embed="rId1"/>
              </a:buBlip>
            </a:pPr>
            <a:r>
              <a:rPr lang="en-US" altLang="zh-CN" sz="3000" dirty="0" smtClean="0">
                <a:latin typeface="Harrington" panose="04040505050A02020702" pitchFamily="82" charset="0"/>
              </a:rPr>
              <a:t>Higher sea level prevent water from flowing quickly to the sea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</a:t>
            </a: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Vertical Text Placeholder 3"/>
          <p:cNvSpPr txBox="1"/>
          <p:nvPr/>
        </p:nvSpPr>
        <p:spPr>
          <a:xfrm>
            <a:off x="685800" y="438150"/>
            <a:ext cx="7620635" cy="4271010"/>
          </a:xfrm>
          <a:prstGeom prst="rect">
            <a:avLst/>
          </a:prstGeom>
        </p:spPr>
        <p:txBody>
          <a:bodyPr/>
          <a:lstStyle/>
          <a:p>
            <a:pPr marL="292100" marR="0" lvl="0" indent="-2921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 panose="05020102010507070707"/>
              <a:buNone/>
              <a:defRPr/>
            </a:pPr>
            <a:r>
              <a:rPr kumimoji="0" lang="en-US" sz="3000" b="0" i="0" u="sng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The cordon approach:</a:t>
            </a:r>
            <a:endParaRPr kumimoji="0" lang="en-US" sz="3000" b="0" i="0" u="sng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 panose="05020102010507070707"/>
              <a:buBlip>
                <a:blip r:embed="rId1"/>
              </a:buBlip>
              <a:defRPr/>
            </a:pP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Blip>
                <a:blip r:embed="rId2"/>
              </a:buBlip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Under this approach, areas were cordoned off to protect them from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flooding</a:t>
            </a:r>
            <a:endParaRPr kumimoji="0" lang="en-US" sz="3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Blip>
                <a:blip r:embed="rId2"/>
              </a:buBlip>
              <a:defRPr/>
            </a:pPr>
            <a:r>
              <a:rPr lang="en-US" sz="3000" dirty="0" smtClean="0">
                <a:latin typeface="Harrington" panose="04040505050A02020702" pitchFamily="82" charset="0"/>
              </a:rPr>
              <a:t> Constructed to protect cities</a:t>
            </a:r>
            <a:endParaRPr lang="en-US" sz="3000" dirty="0" smtClean="0">
              <a:latin typeface="Harrington" panose="04040505050A02020702" pitchFamily="82" charset="0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Blip>
                <a:blip r:embed="rId2"/>
              </a:buBlip>
              <a:defRPr/>
            </a:pP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The idea was to let the river water remain contained only to their channels and pass directly to the sea</a:t>
            </a: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Vertical Text Placeholder 3"/>
          <p:cNvSpPr txBox="1"/>
          <p:nvPr/>
        </p:nvSpPr>
        <p:spPr>
          <a:xfrm>
            <a:off x="71406" y="71420"/>
            <a:ext cx="5762636" cy="4267200"/>
          </a:xfrm>
          <a:prstGeom prst="rect">
            <a:avLst/>
          </a:prstGeom>
        </p:spPr>
        <p:txBody>
          <a:bodyPr/>
          <a:lstStyle/>
          <a:p>
            <a:pPr marL="292100" marR="0" lvl="0" indent="-2921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 panose="05020102010507070707"/>
              <a:buNone/>
              <a:defRPr/>
            </a:pPr>
            <a:r>
              <a:rPr kumimoji="0" lang="en-US" sz="3000" b="0" i="0" u="sng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The cordon approach:</a:t>
            </a:r>
            <a:endParaRPr kumimoji="0" lang="en-US" sz="3000" b="0" i="0" u="sng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 panose="05020102010507070707"/>
              <a:buBlip>
                <a:blip r:embed="rId1"/>
              </a:buBlip>
              <a:defRPr/>
            </a:pP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Blip>
                <a:blip r:embed="rId2"/>
              </a:buBlip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Bring a false sense of dryness – people started to construct houses without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elevating the land</a:t>
            </a:r>
            <a:endParaRPr kumimoji="0" lang="en-US" sz="3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Blip>
                <a:blip r:embed="rId2"/>
              </a:buBlip>
              <a:defRPr/>
            </a:pPr>
            <a:r>
              <a:rPr lang="en-US" sz="3000" dirty="0" smtClean="0">
                <a:latin typeface="Harrington" panose="04040505050A02020702" pitchFamily="82" charset="0"/>
              </a:rPr>
              <a:t> Water has to find place elsewhere; thus increasing pressure in neighbouring cities</a:t>
            </a:r>
            <a:endParaRPr lang="en-US" sz="3000" dirty="0" smtClean="0">
              <a:latin typeface="Harrington" panose="04040505050A02020702" pitchFamily="82" charset="0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Blip>
                <a:blip r:embed="rId2"/>
              </a:buBlip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Farmers are tearing down cordons of neighboring areas</a:t>
            </a: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</p:txBody>
      </p:sp>
      <p:pic>
        <p:nvPicPr>
          <p:cNvPr id="4" name="Picture 2" descr="C:\Users\Administrator\Desktop\embankment-4-728.jpg"/>
          <p:cNvPicPr>
            <a:picLocks noChangeAspect="1" noChangeArrowheads="1"/>
          </p:cNvPicPr>
          <p:nvPr/>
        </p:nvPicPr>
        <p:blipFill>
          <a:blip r:embed="rId3" cstate="print"/>
          <a:srcRect l="7843" t="6536" r="3922" b="17647"/>
          <a:stretch>
            <a:fillRect/>
          </a:stretch>
        </p:blipFill>
        <p:spPr bwMode="auto">
          <a:xfrm>
            <a:off x="5486400" y="2114550"/>
            <a:ext cx="3429000" cy="2209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Vertical Text Placeholder 3"/>
          <p:cNvSpPr txBox="1"/>
          <p:nvPr/>
        </p:nvSpPr>
        <p:spPr>
          <a:xfrm>
            <a:off x="129540" y="57150"/>
            <a:ext cx="8874760" cy="3429000"/>
          </a:xfrm>
          <a:prstGeom prst="rect">
            <a:avLst/>
          </a:prstGeom>
        </p:spPr>
        <p:txBody>
          <a:bodyPr/>
          <a:lstStyle/>
          <a:p>
            <a:pPr marL="292100" marR="0" lvl="0" indent="-2921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 panose="05020102010507070707"/>
              <a:buNone/>
              <a:defRPr/>
            </a:pPr>
            <a:r>
              <a:rPr kumimoji="0" lang="en-US" sz="2400" b="0" i="0" u="sng" strike="noStrike" kern="1200" cap="none" spc="0" normalizeH="0" baseline="0" noProof="0" dirty="0" smtClean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The open approach - future:</a:t>
            </a:r>
            <a:endParaRPr kumimoji="0" lang="en-US" sz="2400" b="0" i="0" u="sng" strike="noStrike" kern="1200" cap="none" spc="0" normalizeH="0" baseline="0" noProof="0" dirty="0" smtClean="0">
              <a:ln>
                <a:noFill/>
              </a:ln>
              <a:solidFill>
                <a:srgbClr val="FF99FF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Blip>
                <a:blip r:embed="rId1"/>
              </a:buBlip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Re-excavation and dredging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749300" lvl="1" indent="-292100">
              <a:buClr>
                <a:schemeClr val="accent1"/>
              </a:buClr>
              <a:buSzPct val="70000"/>
              <a:buBlip>
                <a:blip r:embed="rId1"/>
              </a:buBlip>
            </a:pPr>
            <a:r>
              <a:rPr lang="en-US" sz="2400" dirty="0" smtClean="0">
                <a:latin typeface="Harrington" panose="04040505050A02020702" pitchFamily="82" charset="0"/>
              </a:rPr>
              <a:t>This will keep riverbeds wide and deep so that peak season flow can pass easily and rapidly</a:t>
            </a:r>
            <a:endParaRPr lang="en-US" sz="2400" dirty="0" smtClean="0">
              <a:latin typeface="Harrington" panose="04040505050A02020702" pitchFamily="82" charset="0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Blip>
                <a:blip r:embed="rId1"/>
              </a:buBlip>
              <a:defRPr/>
            </a:pP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Ensure free passage of water across floodplains</a:t>
            </a:r>
            <a:endParaRPr kumimoji="0" lang="en-US" sz="24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749300" lvl="1" indent="-292100">
              <a:buClr>
                <a:schemeClr val="accent1"/>
              </a:buClr>
              <a:buSzPct val="70000"/>
              <a:buBlip>
                <a:blip r:embed="rId1"/>
              </a:buBlip>
            </a:pPr>
            <a:r>
              <a:rPr lang="en-US" sz="2400" dirty="0" smtClean="0">
                <a:latin typeface="Harrington" panose="04040505050A02020702" pitchFamily="82" charset="0"/>
              </a:rPr>
              <a:t>Dry season, people walk on the floodplain; during rainy season, use boats</a:t>
            </a:r>
            <a:endParaRPr lang="en-US" sz="2400" dirty="0" smtClean="0">
              <a:latin typeface="Harrington" panose="04040505050A02020702" pitchFamily="82" charset="0"/>
            </a:endParaRPr>
          </a:p>
          <a:p>
            <a:pPr marL="749300" lvl="1" indent="-292100">
              <a:buClr>
                <a:schemeClr val="accent1"/>
              </a:buClr>
              <a:buSzPct val="70000"/>
              <a:buBlip>
                <a:blip r:embed="rId1"/>
              </a:buBlip>
            </a:pPr>
            <a:r>
              <a:rPr lang="en-US" sz="2400" dirty="0" smtClean="0">
                <a:latin typeface="Harrington" panose="04040505050A02020702" pitchFamily="82" charset="0"/>
              </a:rPr>
              <a:t>New roads constructed only if necessary</a:t>
            </a:r>
            <a:endParaRPr lang="en-US" sz="2400" dirty="0" smtClean="0">
              <a:latin typeface="Harrington" panose="04040505050A02020702" pitchFamily="82" charset="0"/>
            </a:endParaRPr>
          </a:p>
          <a:p>
            <a:pPr marL="749300" lvl="1" indent="-292100">
              <a:buClr>
                <a:schemeClr val="accent1"/>
              </a:buClr>
              <a:buSzPct val="70000"/>
              <a:buBlip>
                <a:blip r:embed="rId1"/>
              </a:buBlip>
            </a:pPr>
            <a:endParaRPr kumimoji="0" lang="en-US" sz="24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749300" lvl="1" indent="-292100">
              <a:buClr>
                <a:schemeClr val="accent1"/>
              </a:buClr>
              <a:buSzPct val="70000"/>
              <a:buBlip>
                <a:blip r:embed="rId1"/>
              </a:buBlip>
            </a:pPr>
            <a:endParaRPr lang="en-US" sz="2400" dirty="0" smtClean="0">
              <a:latin typeface="Harrington" panose="04040505050A02020702" pitchFamily="82" charset="0"/>
            </a:endParaRPr>
          </a:p>
        </p:txBody>
      </p:sp>
      <p:pic>
        <p:nvPicPr>
          <p:cNvPr id="2050" name="Picture 2" descr="C:\Users\Administrator\Desktop\1544046531105.jpg"/>
          <p:cNvPicPr>
            <a:picLocks noChangeAspect="1" noChangeArrowheads="1"/>
          </p:cNvPicPr>
          <p:nvPr/>
        </p:nvPicPr>
        <p:blipFill>
          <a:blip r:embed="rId2" cstate="print"/>
          <a:srcRect l="9091"/>
          <a:stretch>
            <a:fillRect/>
          </a:stretch>
        </p:blipFill>
        <p:spPr bwMode="auto">
          <a:xfrm>
            <a:off x="152400" y="3105150"/>
            <a:ext cx="3048000" cy="1888901"/>
          </a:xfrm>
          <a:prstGeom prst="rect">
            <a:avLst/>
          </a:prstGeom>
          <a:noFill/>
        </p:spPr>
      </p:pic>
      <p:pic>
        <p:nvPicPr>
          <p:cNvPr id="2051" name="Picture 3" descr="C:\Users\Administrator\Desktop\jamuna_river-banglades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3130551"/>
            <a:ext cx="2514600" cy="1885950"/>
          </a:xfrm>
          <a:prstGeom prst="rect">
            <a:avLst/>
          </a:prstGeom>
          <a:noFill/>
        </p:spPr>
      </p:pic>
      <p:pic>
        <p:nvPicPr>
          <p:cNvPr id="2052" name="Picture 4" descr="C:\Users\Administrator\Desktop\2251236413_0f857de25f_b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3600" y="3003798"/>
            <a:ext cx="3181266" cy="21156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Vertical Text Placeholder 3"/>
          <p:cNvSpPr txBox="1"/>
          <p:nvPr/>
        </p:nvSpPr>
        <p:spPr>
          <a:xfrm>
            <a:off x="-76200" y="-18"/>
            <a:ext cx="6505588" cy="4556125"/>
          </a:xfrm>
          <a:prstGeom prst="rect">
            <a:avLst/>
          </a:prstGeom>
        </p:spPr>
        <p:txBody>
          <a:bodyPr/>
          <a:lstStyle/>
          <a:p>
            <a:pPr marL="292100" marR="0" lvl="0" indent="-2921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 panose="05020102010507070707"/>
              <a:buNone/>
              <a:defRPr/>
            </a:pPr>
            <a:r>
              <a:rPr kumimoji="0" lang="en-US" sz="2800" b="0" i="0" u="sng" strike="noStrike" kern="1200" cap="none" spc="0" normalizeH="0" baseline="0" noProof="0" dirty="0" smtClean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The open approach - future:</a:t>
            </a:r>
            <a:endParaRPr kumimoji="0" lang="en-US" sz="2800" b="0" i="0" u="sng" strike="noStrike" kern="1200" cap="none" spc="0" normalizeH="0" baseline="0" noProof="0" dirty="0" smtClean="0">
              <a:ln>
                <a:noFill/>
              </a:ln>
              <a:solidFill>
                <a:srgbClr val="FF99FF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 panose="05020102010507070707"/>
              <a:buBlip>
                <a:blip r:embed="rId1"/>
              </a:buBlip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Blip>
                <a:blip r:embed="rId2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Adjustment of settlements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749300" lvl="1" indent="-292100">
              <a:buClr>
                <a:schemeClr val="accent1"/>
              </a:buClr>
              <a:buSzPct val="70000"/>
              <a:buBlip>
                <a:blip r:embed="rId2"/>
              </a:buBlip>
            </a:pPr>
            <a:r>
              <a:rPr lang="en-US" sz="2800" dirty="0" smtClean="0">
                <a:latin typeface="Harrington" panose="04040505050A02020702" pitchFamily="82" charset="0"/>
              </a:rPr>
              <a:t>Elevating the ground level</a:t>
            </a:r>
            <a:endParaRPr lang="en-US" sz="2800" dirty="0" smtClean="0">
              <a:latin typeface="Harrington" panose="04040505050A02020702" pitchFamily="82" charset="0"/>
            </a:endParaRPr>
          </a:p>
          <a:p>
            <a:pPr marL="749300" lvl="1" indent="-292100">
              <a:buClr>
                <a:schemeClr val="accent1"/>
              </a:buClr>
              <a:buSzPct val="70000"/>
              <a:buBlip>
                <a:blip r:embed="rId2"/>
              </a:buBlip>
            </a:pPr>
            <a:r>
              <a:rPr lang="en-US" sz="2800" dirty="0" smtClean="0">
                <a:latin typeface="Harrington" panose="04040505050A02020702" pitchFamily="82" charset="0"/>
              </a:rPr>
              <a:t>Cluster: it is easier to save dwellings if they are concentrated </a:t>
            </a:r>
            <a:endParaRPr lang="en-US" sz="2800" dirty="0" smtClean="0">
              <a:latin typeface="Harrington" panose="04040505050A02020702" pitchFamily="82" charset="0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Blip>
                <a:blip r:embed="rId2"/>
              </a:buBlip>
              <a:defRPr/>
            </a:pP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Open embankments</a:t>
            </a:r>
            <a:endParaRPr kumimoji="0" lang="en-US" sz="28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749300" lvl="1" indent="-292100">
              <a:buClr>
                <a:schemeClr val="accent1"/>
              </a:buClr>
              <a:buSzPct val="70000"/>
              <a:buBlip>
                <a:blip r:embed="rId2"/>
              </a:buBlip>
            </a:pPr>
            <a:r>
              <a:rPr lang="en-US" sz="2800" dirty="0" smtClean="0">
                <a:latin typeface="Harrington" panose="04040505050A02020702" pitchFamily="82" charset="0"/>
              </a:rPr>
              <a:t>The purpose is to regulate inundation, not to prevent inundation</a:t>
            </a:r>
            <a:endParaRPr lang="en-US" sz="2800" dirty="0" smtClean="0">
              <a:latin typeface="Harrington" panose="04040505050A02020702" pitchFamily="82" charset="0"/>
            </a:endParaRPr>
          </a:p>
          <a:p>
            <a:pPr marL="749300" lvl="1" indent="-292100">
              <a:buClr>
                <a:schemeClr val="accent1"/>
              </a:buClr>
              <a:buSzPct val="70000"/>
              <a:buBlip>
                <a:blip r:embed="rId2"/>
              </a:buBlip>
            </a:pPr>
            <a:r>
              <a:rPr lang="en-US" sz="2800" dirty="0" smtClean="0">
                <a:latin typeface="Harrington" panose="04040505050A02020702" pitchFamily="82" charset="0"/>
              </a:rPr>
              <a:t>These will allow river water to flow into adjoining floodplains through floodgates</a:t>
            </a:r>
            <a:endParaRPr lang="en-US" sz="2800" dirty="0" smtClean="0">
              <a:latin typeface="Harrington" panose="04040505050A02020702" pitchFamily="82" charset="0"/>
            </a:endParaRPr>
          </a:p>
        </p:txBody>
      </p:sp>
      <p:pic>
        <p:nvPicPr>
          <p:cNvPr id="3074" name="Picture 2" descr="C:\Users\Administrator\Desktop\image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57150"/>
            <a:ext cx="2581275" cy="1496264"/>
          </a:xfrm>
          <a:prstGeom prst="rect">
            <a:avLst/>
          </a:prstGeom>
          <a:noFill/>
        </p:spPr>
      </p:pic>
      <p:pic>
        <p:nvPicPr>
          <p:cNvPr id="3075" name="Picture 3" descr="C:\Users\Administrator\Desktop\Cyclone-shelter-at-Rayenda-union-of-Bagerhat-district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86513" y="1657350"/>
            <a:ext cx="2071687" cy="1569849"/>
          </a:xfrm>
          <a:prstGeom prst="rect">
            <a:avLst/>
          </a:prstGeom>
          <a:noFill/>
        </p:spPr>
      </p:pic>
      <p:pic>
        <p:nvPicPr>
          <p:cNvPr id="3076" name="Picture 4" descr="C:\Users\Administrator\Desktop\images.jpg"/>
          <p:cNvPicPr>
            <a:picLocks noChangeAspect="1" noChangeArrowheads="1"/>
          </p:cNvPicPr>
          <p:nvPr/>
        </p:nvPicPr>
        <p:blipFill>
          <a:blip r:embed="rId5" cstate="print"/>
          <a:srcRect t="10309" b="7216"/>
          <a:stretch>
            <a:fillRect/>
          </a:stretch>
        </p:blipFill>
        <p:spPr bwMode="auto">
          <a:xfrm>
            <a:off x="6096000" y="3297563"/>
            <a:ext cx="2895600" cy="17887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5122" name="Picture 2" descr="http://www.fredhoogervorst.com/oni.app/local/upload/15270db.jpg">
            <a:hlinkClick r:id="rId1"/>
          </p:cNvPr>
          <p:cNvPicPr>
            <a:picLocks noChangeAspect="1" noChangeArrowheads="1"/>
          </p:cNvPicPr>
          <p:nvPr/>
        </p:nvPicPr>
        <p:blipFill>
          <a:blip r:embed="rId2" cstate="print"/>
          <a:srcRect b="36896"/>
          <a:stretch>
            <a:fillRect/>
          </a:stretch>
        </p:blipFill>
        <p:spPr bwMode="auto">
          <a:xfrm>
            <a:off x="5791200" y="2514804"/>
            <a:ext cx="3297084" cy="2414400"/>
          </a:xfrm>
          <a:prstGeom prst="rect">
            <a:avLst/>
          </a:prstGeom>
          <a:noFill/>
        </p:spPr>
      </p:pic>
      <p:pic>
        <p:nvPicPr>
          <p:cNvPr id="5124" name="Picture 4" descr="http://www.ifrc.org/PageFiles/88580/DSC_6152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" y="2643204"/>
            <a:ext cx="5657088" cy="2286000"/>
          </a:xfrm>
          <a:prstGeom prst="rect">
            <a:avLst/>
          </a:prstGeom>
          <a:noFill/>
        </p:spPr>
      </p:pic>
      <p:sp>
        <p:nvSpPr>
          <p:cNvPr id="5" name="Vertical Text Placeholder 3"/>
          <p:cNvSpPr txBox="1"/>
          <p:nvPr/>
        </p:nvSpPr>
        <p:spPr>
          <a:xfrm>
            <a:off x="381000" y="71436"/>
            <a:ext cx="8243570" cy="2286000"/>
          </a:xfrm>
          <a:prstGeom prst="rect">
            <a:avLst/>
          </a:prstGeom>
        </p:spPr>
        <p:txBody>
          <a:bodyPr/>
          <a:lstStyle/>
          <a:p>
            <a:pPr marL="292100" marR="0" lvl="0" indent="-2921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 panose="05020102010507070707"/>
              <a:buNone/>
              <a:defRPr/>
            </a:pPr>
            <a:r>
              <a:rPr kumimoji="0" lang="en-US" sz="3000" b="0" i="0" u="sng" strike="noStrike" kern="1200" cap="none" spc="0" normalizeH="0" baseline="0" noProof="0" dirty="0" smtClean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The open approach - future:</a:t>
            </a:r>
            <a:endParaRPr kumimoji="0" lang="en-US" sz="3000" b="0" i="0" u="sng" strike="noStrike" kern="1200" cap="none" spc="0" normalizeH="0" baseline="0" noProof="0" dirty="0" smtClean="0">
              <a:ln>
                <a:noFill/>
              </a:ln>
              <a:solidFill>
                <a:srgbClr val="FF99FF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 panose="05020102010507070707"/>
              <a:buNone/>
              <a:defRPr/>
            </a:pPr>
            <a:endParaRPr kumimoji="0" lang="en-US" sz="3000" b="0" i="0" u="sng" strike="noStrike" kern="1200" cap="none" spc="0" normalizeH="0" baseline="0" noProof="0" dirty="0" smtClean="0">
              <a:ln>
                <a:noFill/>
              </a:ln>
              <a:solidFill>
                <a:srgbClr val="FF99FF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	 Based on the time-honored principle </a:t>
            </a:r>
            <a:r>
              <a:rPr kumimoji="0" lang="en-US" altLang="zh-CN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of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the Bangladeshi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 ancestors  </a:t>
            </a:r>
            <a:endParaRPr kumimoji="0" lang="en-US" sz="3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  <a:p>
            <a:pPr marL="292100" marR="0" lvl="0" indent="-2921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anose="04040505050A02020702" pitchFamily="82" charset="0"/>
                <a:ea typeface="+mn-ea"/>
                <a:cs typeface="+mn-cs"/>
              </a:rPr>
              <a:t>~ live with the rivers and benefit from them ~</a:t>
            </a: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arrington" panose="04040505050A02020702" pitchFamily="82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685800" y="1316831"/>
            <a:ext cx="7772400" cy="1102519"/>
          </a:xfrm>
        </p:spPr>
        <p:txBody>
          <a:bodyPr/>
          <a:lstStyle/>
          <a:p>
            <a:r>
              <a:rPr lang="en-US" altLang="zh-CN" b="1" dirty="0" smtClean="0"/>
              <a:t>SUMMARY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 smtClean="0"/>
              <a:t>Causes of flooding in Bangladesh </a:t>
            </a:r>
            <a:endParaRPr lang="zh-CN" altLang="en-US" sz="3200" b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Natural</a:t>
            </a:r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endParaRPr lang="en-US" altLang="zh-CN" dirty="0">
              <a:solidFill>
                <a:srgbClr val="FFFF00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altLang="zh-CN" dirty="0" smtClean="0">
                <a:solidFill>
                  <a:schemeClr val="tx2">
                    <a:lumMod val="75000"/>
                  </a:schemeClr>
                </a:solidFill>
              </a:rPr>
              <a:t>Natural</a:t>
            </a:r>
            <a:endParaRPr lang="zh-CN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9800" y="205978"/>
            <a:ext cx="7776000" cy="857250"/>
          </a:xfrm>
        </p:spPr>
        <p:txBody>
          <a:bodyPr>
            <a:normAutofit/>
          </a:bodyPr>
          <a:lstStyle/>
          <a:p>
            <a:r>
              <a:rPr lang="en-US" altLang="zh-CN" sz="3200" b="1" dirty="0" smtClean="0"/>
              <a:t>Causes of flooding in Bangladesh </a:t>
            </a:r>
            <a:endParaRPr lang="zh-CN" altLang="en-US" sz="3200" b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zh-CN" dirty="0" smtClean="0">
                <a:solidFill>
                  <a:srgbClr val="92D050"/>
                </a:solidFill>
              </a:rPr>
              <a:t>Climate change</a:t>
            </a:r>
            <a:endParaRPr lang="zh-CN" altLang="en-US" dirty="0">
              <a:solidFill>
                <a:srgbClr val="92D050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altLang="zh-CN" dirty="0">
              <a:solidFill>
                <a:srgbClr val="92D050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3"/>
          </p:nvPr>
        </p:nvSpPr>
        <p:spPr>
          <a:xfrm>
            <a:off x="4645026" y="971550"/>
            <a:ext cx="4041775" cy="479822"/>
          </a:xfrm>
        </p:spPr>
        <p:txBody>
          <a:bodyPr/>
          <a:lstStyle/>
          <a:p>
            <a:pPr algn="ctr"/>
            <a:r>
              <a:rPr lang="en-US" altLang="zh-CN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Human activities</a:t>
            </a:r>
            <a:endParaRPr lang="zh-CN" alt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4"/>
          </p:nvPr>
        </p:nvSpPr>
        <p:spPr>
          <a:xfrm>
            <a:off x="4645026" y="1504950"/>
            <a:ext cx="4041775" cy="3276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altLang="zh-CN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66800" y="342900"/>
            <a:ext cx="5029200" cy="857250"/>
          </a:xfrm>
        </p:spPr>
        <p:txBody>
          <a:bodyPr>
            <a:normAutofit/>
          </a:bodyPr>
          <a:lstStyle/>
          <a:p>
            <a:r>
              <a:rPr lang="en-US" altLang="zh-CN" sz="3600" dirty="0" smtClean="0">
                <a:solidFill>
                  <a:srgbClr val="66FFFF"/>
                </a:solidFill>
              </a:rPr>
              <a:t>References</a:t>
            </a:r>
            <a:endParaRPr lang="zh-CN" altLang="en-US" sz="3600" dirty="0">
              <a:solidFill>
                <a:srgbClr val="66FFFF"/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Banerjee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L. 2007. Effect of flood on agricultural wages in Bangladesh: and empirical analysis. World Development 35 (11), 1989-2009.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Choudhury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al. 2014. Impact of coastal embankment on the flash flood in Bangladesh: a case study. Applied Geography 24, 241-258.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Dalzell et al. 2007. The role of hydrology in annual organic carbon loads and terrestrial organic matter export from a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midwestern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agricultural watershed.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Geochimica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Cosmochimica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Acta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71, 1448-1462.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Gebremichael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al. 2017. Flood-related increases in CO</a:t>
            </a:r>
            <a:r>
              <a:rPr lang="en-US" altLang="zh-CN" sz="1800" baseline="-250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2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and N</a:t>
            </a:r>
            <a:r>
              <a:rPr lang="en-US" altLang="zh-CN" sz="1800" baseline="-250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2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O emissions from a temperate coastal grassland ecosystem.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Biogeosciences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14, 2611-2626.  </a:t>
            </a:r>
            <a:endParaRPr lang="zh-CN" altLang="en-US" sz="1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内容占位符 3"/>
          <p:cNvSpPr>
            <a:spLocks noGrp="1"/>
          </p:cNvSpPr>
          <p:nvPr>
            <p:ph idx="1"/>
          </p:nvPr>
        </p:nvSpPr>
        <p:spPr>
          <a:xfrm>
            <a:off x="304800" y="777477"/>
            <a:ext cx="8229600" cy="4004073"/>
          </a:xfrm>
        </p:spPr>
        <p:txBody>
          <a:bodyPr>
            <a:normAutofit/>
          </a:bodyPr>
          <a:lstStyle/>
          <a:p>
            <a:pPr>
              <a:buSzPct val="90000"/>
              <a:buFontTx/>
              <a:buChar char="₰"/>
            </a:pP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Islam N. 2001. The open approach to flood control: the way to the future in Bangladesh. Futures 33, 783-802.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Kanii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al. 2002. The impact on health and risk factors of the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diarrhoea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epidemics in the 1998 Bangladesh floods. Public Health 116, 68-74.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Karim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MF and Mimura N. 2008. Impacts of climate change and sea-level rise on cyclonic storm surge floods in Bangladesh. Global Environmental Change 18, 490-500.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Stagl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al. 2013. Chapter 3. Effects of climate change on the hydrological cycle in central and eastern Europe. In</a:t>
            </a:r>
            <a:r>
              <a:rPr lang="zh-CN" altLang="en-US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“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Managing protected areas in central and eastern Europe under climate change</a:t>
            </a:r>
            <a:r>
              <a:rPr lang="zh-CN" altLang="en-US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”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(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Rannow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A and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Neubert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M, editors). Advances in Global Climate Research 58, 31-44pp.</a:t>
            </a:r>
            <a:endParaRPr lang="zh-CN" altLang="en-US" sz="1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内容占位符 3"/>
          <p:cNvSpPr>
            <a:spLocks noGrp="1"/>
          </p:cNvSpPr>
          <p:nvPr>
            <p:ph idx="1"/>
          </p:nvPr>
        </p:nvSpPr>
        <p:spPr>
          <a:xfrm>
            <a:off x="304800" y="853677"/>
            <a:ext cx="8229600" cy="4004073"/>
          </a:xfrm>
        </p:spPr>
        <p:txBody>
          <a:bodyPr>
            <a:normAutofit/>
          </a:bodyPr>
          <a:lstStyle/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Tesi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al. 2008. Changes in the composition of organic matter from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prodeltaic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sediments after a large flood event (Po River, Italy).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Geochimica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Cosmochimica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Acta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72, 2100-2114.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Tran et al. 2008. Catastrophic flood and forest cover change in the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Huong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river basin, central Viet Nam: a gap between common perceptions and facts. Journal of Environmental Management 91, 2186-2200.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Trenberth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KE. 2005.The impact of climate change and variability on heavy precipitation, floods, and droughts. Encyclopedia of Hydrological Sciences (Anderson MG, ed.) 11 pp.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Voynova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al. 2017. Extreme flood impact on estuarine and coastal biogeochemistry: the 2013 Elbe flood.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Biogeosciences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14, 541-557.</a:t>
            </a:r>
            <a:endParaRPr lang="zh-CN" altLang="en-US" sz="1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838200" y="1733550"/>
            <a:ext cx="7772400" cy="1102519"/>
          </a:xfrm>
        </p:spPr>
        <p:txBody>
          <a:bodyPr>
            <a:noAutofit/>
          </a:bodyPr>
          <a:lstStyle/>
          <a:p>
            <a:r>
              <a:rPr lang="en-US" altLang="zh-CN" sz="8000" b="1" dirty="0" smtClean="0">
                <a:solidFill>
                  <a:srgbClr val="FFFF00"/>
                </a:solidFill>
              </a:rPr>
              <a:t>THANK YOU</a:t>
            </a:r>
            <a:endParaRPr lang="zh-CN" altLang="en-US" sz="80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4025.1527559055116,&quot;width&quot;:4440}"/>
</p:tagLst>
</file>

<file path=ppt/tags/tag2.xml><?xml version="1.0" encoding="utf-8"?>
<p:tagLst xmlns:p="http://schemas.openxmlformats.org/presentationml/2006/main">
  <p:tag name="COMMONDATA" val="eyJoZGlkIjoiODE2MTZiYzYxYzViY2UxNzIwYTQxNDMzMzYzZjFhOTUifQ=="/>
  <p:tag name="KSO_WPP_MARK_KEY" val="6f9f4ae9-42e5-4d4b-91b3-ea6512bb86b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凤舞九天">
  <a:themeElements>
    <a:clrScheme name="纸张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0</TotalTime>
  <Words>7106</Words>
  <Application>WPS 演示</Application>
  <PresentationFormat>On-screen Show (16:9)</PresentationFormat>
  <Paragraphs>258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4" baseType="lpstr">
      <vt:lpstr>Arial</vt:lpstr>
      <vt:lpstr>宋体</vt:lpstr>
      <vt:lpstr>Wingdings</vt:lpstr>
      <vt:lpstr>Wingdings 2</vt:lpstr>
      <vt:lpstr>Wingdings</vt:lpstr>
      <vt:lpstr>Arial</vt:lpstr>
      <vt:lpstr>Footlight MT Light</vt:lpstr>
      <vt:lpstr>Segoe Print</vt:lpstr>
      <vt:lpstr>Goudy Old Style</vt:lpstr>
      <vt:lpstr>微软雅黑</vt:lpstr>
      <vt:lpstr>Arial Unicode MS</vt:lpstr>
      <vt:lpstr>华文新魏</vt:lpstr>
      <vt:lpstr>Calibri</vt:lpstr>
      <vt:lpstr>Harrington</vt:lpstr>
      <vt:lpstr>Gabriola</vt:lpstr>
      <vt:lpstr>凤舞九天</vt:lpstr>
      <vt:lpstr>~ 8.1 FLOOD ~</vt:lpstr>
      <vt:lpstr>CONTENTS</vt:lpstr>
      <vt:lpstr>BANGLADESH –  a case study</vt:lpstr>
      <vt:lpstr>PowerPoint 演示文稿</vt:lpstr>
      <vt:lpstr>PowerPoint 演示文稿</vt:lpstr>
      <vt:lpstr>Sea level rise ……..</vt:lpstr>
      <vt:lpstr>Impact of climate change and sea level rise ..</vt:lpstr>
      <vt:lpstr>PowerPoint 演示文稿</vt:lpstr>
      <vt:lpstr>PowerPoint 演示文稿</vt:lpstr>
      <vt:lpstr>Floods  -  effects on human health …..</vt:lpstr>
      <vt:lpstr>PowerPoint 演示文稿</vt:lpstr>
      <vt:lpstr>PowerPoint 演示文稿</vt:lpstr>
      <vt:lpstr>PowerPoint 演示文稿</vt:lpstr>
      <vt:lpstr>Floods  -  effects on agricultural wages …..</vt:lpstr>
      <vt:lpstr>PowerPoint 演示文稿</vt:lpstr>
      <vt:lpstr>PowerPoint 演示文稿</vt:lpstr>
      <vt:lpstr>RESPONSES  -  coastal embankment …</vt:lpstr>
      <vt:lpstr>PowerPoint 演示文稿</vt:lpstr>
      <vt:lpstr>PowerPoint 演示文稿</vt:lpstr>
      <vt:lpstr>PowerPoint 演示文稿</vt:lpstr>
      <vt:lpstr>PowerPoint 演示文稿</vt:lpstr>
      <vt:lpstr>Causes of increased flash floods </vt:lpstr>
      <vt:lpstr>RESPONSES  -  The Open Approach 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Causes of flooding in Bangladesh </vt:lpstr>
      <vt:lpstr>Causes of flooding in Bangladesh </vt:lpstr>
      <vt:lpstr>References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BANGLADESH –  a case study</dc:title>
  <dc:creator>Peisun</dc:creator>
  <cp:lastModifiedBy>LOH PEI SUN</cp:lastModifiedBy>
  <cp:revision>292</cp:revision>
  <dcterms:created xsi:type="dcterms:W3CDTF">2006-08-16T00:00:00Z</dcterms:created>
  <dcterms:modified xsi:type="dcterms:W3CDTF">2026-06-18T08:46:23Z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D314080411C742FBA520F220BF6485E8</vt:lpwstr>
  </property>
  <property fmtid="{D5CDD505-2E9C-101B-9397-08002B2CF9AE}" pid="3" name="KSOProductBuildVer">
    <vt:lpwstr>2052-12.1.0.26895</vt:lpwstr>
  </property>
</Properties>
</file>